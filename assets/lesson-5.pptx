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6"/>
          <p:cNvSpPr/>
          <p:nvPr/>
        </p:nvSpPr>
        <p:spPr>
          <a:xfrm>
            <a:off x="371520" y="368280"/>
            <a:ext cx="11449080" cy="6121440"/>
          </a:xfrm>
          <a:prstGeom prst="roundRect">
            <a:avLst>
              <a:gd name="adj" fmla="val 1727"/>
            </a:avLst>
          </a:prstGeom>
          <a:solidFill>
            <a:srgbClr val="E6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sp>
        <p:nvSpPr>
          <p:cNvPr id="3" name="圆角矩形 7"/>
          <p:cNvSpPr/>
          <p:nvPr/>
        </p:nvSpPr>
        <p:spPr>
          <a:xfrm>
            <a:off x="609480" y="592200"/>
            <a:ext cx="10972800" cy="5673600"/>
          </a:xfrm>
          <a:prstGeom prst="roundRect">
            <a:avLst>
              <a:gd name="adj" fmla="val 1727"/>
            </a:avLst>
          </a:prstGeom>
          <a:noFill/>
          <a:ln w="63360">
            <a:solidFill>
              <a:srgbClr val="ABD8F4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9829800" cy="1082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SG" sz="3200" b="0" u="none" strike="noStrike">
                <a:solidFill>
                  <a:srgbClr val="40404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SG" sz="32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32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523880" y="1828440"/>
            <a:ext cx="9144000" cy="3475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defRPr>
            </a:lvl1pPr>
            <a:lvl2pPr lvl="1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defRPr>
            </a:lvl2pPr>
            <a:lvl3pPr lvl="2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defRPr>
            </a:lvl3pPr>
            <a:lvl4pPr lvl="3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defRPr>
            </a:lvl4pPr>
            <a:lvl5pPr lvl="4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defRPr>
            </a:lvl5pPr>
            <a:lvl6pPr lvl="5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defRPr>
            </a:lvl6pPr>
            <a:lvl7pPr lvl="6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rPr>
              <a:t>点击以编辑提纲文本格式</a:t>
            </a:r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  <a:p>
            <a:pPr marL="457200" lvl="1" indent="-182520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rPr>
              <a:t>第二提纲级别</a:t>
            </a:r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  <a:p>
            <a:pPr marL="685800" lvl="2" indent="-182520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rPr>
              <a:t>第三提纲级别</a:t>
            </a:r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  <a:p>
            <a:pPr marL="914400" lvl="3" indent="-182520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rPr>
              <a:t>第四提纲级别</a:t>
            </a:r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  <a:p>
            <a:pPr marL="1143000" lvl="4" indent="-182520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rPr>
              <a:t>第五提纲级别</a:t>
            </a:r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  <a:p>
            <a:pPr marL="1143000" lvl="5" indent="-182520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rPr>
              <a:t>第六提纲级别</a:t>
            </a:r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  <a:p>
            <a:pPr marL="1143000" lvl="6" indent="-182520" algn="l">
              <a:lnSpc>
                <a:spcPct val="90000"/>
              </a:lnSpc>
              <a:spcBef>
                <a:spcPts val="1800"/>
              </a:spcBef>
              <a:buClr>
                <a:srgbClr val="40404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SG" sz="2000" b="0" u="none" strike="noStrike">
                <a:solidFill>
                  <a:srgbClr val="404040"/>
                </a:solidFill>
                <a:effectLst/>
                <a:uFillTx/>
                <a:latin typeface="微软雅黑"/>
              </a:rPr>
              <a:t>第七提纲级别</a:t>
            </a:r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WordArt 3"/>
          <p:cNvSpPr/>
          <p:nvPr/>
        </p:nvSpPr>
        <p:spPr>
          <a:xfrm>
            <a:off x="1415880" y="1773360"/>
            <a:ext cx="4535640" cy="30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en familie</a:t>
            </a:r>
            <a:r>
              <a:rPr lang="en-US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family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lnSpc>
                <a:spcPts val="2137"/>
              </a:lnSpc>
              <a:spcBef>
                <a:spcPts val="1026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lnSpc>
                <a:spcPts val="2137"/>
              </a:lnSpc>
              <a:spcBef>
                <a:spcPts val="300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lnSpc>
                <a:spcPts val="2137"/>
              </a:lnSpc>
              <a:spcBef>
                <a:spcPts val="300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7" name="图片 1" descr="Family"/>
          <p:cNvPicPr/>
          <p:nvPr/>
        </p:nvPicPr>
        <p:blipFill>
          <a:blip r:embed="rId1"/>
          <a:stretch/>
        </p:blipFill>
        <p:spPr>
          <a:xfrm>
            <a:off x="5880240" y="1150920"/>
            <a:ext cx="5192640" cy="43387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ordArt 3"/>
          <p:cNvSpPr/>
          <p:nvPr/>
        </p:nvSpPr>
        <p:spPr>
          <a:xfrm>
            <a:off x="1271520" y="1917720"/>
            <a:ext cx="3168720" cy="30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et barn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child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lnSpc>
                <a:spcPts val="2137"/>
              </a:lnSpc>
              <a:spcBef>
                <a:spcPts val="300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1" descr="Opposite family vector"/>
          <p:cNvPicPr/>
          <p:nvPr/>
        </p:nvPicPr>
        <p:blipFill>
          <a:blip r:embed="rId1"/>
          <a:stretch/>
        </p:blipFill>
        <p:spPr>
          <a:xfrm>
            <a:off x="5664240" y="855720"/>
            <a:ext cx="5146560" cy="5146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ordArt 3"/>
          <p:cNvSpPr/>
          <p:nvPr/>
        </p:nvSpPr>
        <p:spPr>
          <a:xfrm>
            <a:off x="1343160" y="1773360"/>
            <a:ext cx="3889080" cy="29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ei mor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mother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11" name="图片 2" descr="Happy family. Vector flat design illustration on white background"/>
          <p:cNvPicPr/>
          <p:nvPr/>
        </p:nvPicPr>
        <p:blipFill>
          <a:blip r:embed="rId1"/>
          <a:stretch/>
        </p:blipFill>
        <p:spPr>
          <a:xfrm>
            <a:off x="6167520" y="1160640"/>
            <a:ext cx="4537080" cy="45367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3"/>
          <p:cNvSpPr/>
          <p:nvPr/>
        </p:nvSpPr>
        <p:spPr>
          <a:xfrm>
            <a:off x="1703520" y="1917720"/>
            <a:ext cx="3600360" cy="30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en far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father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13" name="图片 2" descr="Happy family. Vector flat design illustration on white background"/>
          <p:cNvPicPr/>
          <p:nvPr/>
        </p:nvPicPr>
        <p:blipFill>
          <a:blip r:embed="rId1"/>
          <a:stretch/>
        </p:blipFill>
        <p:spPr>
          <a:xfrm>
            <a:off x="6383160" y="1197000"/>
            <a:ext cx="4537080" cy="45356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ordArt 3"/>
          <p:cNvSpPr/>
          <p:nvPr/>
        </p:nvSpPr>
        <p:spPr>
          <a:xfrm>
            <a:off x="1558800" y="1952640"/>
            <a:ext cx="3457800" cy="29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foreldre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parents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15" name="图片 1" descr="Happy family. Vector flat design illustration on white background"/>
          <p:cNvPicPr/>
          <p:nvPr/>
        </p:nvPicPr>
        <p:blipFill>
          <a:blip r:embed="rId1"/>
          <a:stretch/>
        </p:blipFill>
        <p:spPr>
          <a:xfrm>
            <a:off x="6456240" y="1160640"/>
            <a:ext cx="4535640" cy="45367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WordArt 3"/>
          <p:cNvSpPr/>
          <p:nvPr/>
        </p:nvSpPr>
        <p:spPr>
          <a:xfrm>
            <a:off x="1415880" y="1700280"/>
            <a:ext cx="5040360" cy="273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ei datter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daughter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17" name="图片 2"/>
          <p:cNvPicPr/>
          <p:nvPr/>
        </p:nvPicPr>
        <p:blipFill>
          <a:blip r:embed="rId1"/>
          <a:stretch/>
        </p:blipFill>
        <p:spPr>
          <a:xfrm>
            <a:off x="6600960" y="1557360"/>
            <a:ext cx="3484440" cy="34290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WordArt 3"/>
          <p:cNvSpPr/>
          <p:nvPr/>
        </p:nvSpPr>
        <p:spPr>
          <a:xfrm>
            <a:off x="1703520" y="1628640"/>
            <a:ext cx="3816360" cy="30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en sønn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son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19" name="图片 2"/>
          <p:cNvPicPr/>
          <p:nvPr/>
        </p:nvPicPr>
        <p:blipFill>
          <a:blip r:embed="rId1"/>
          <a:stretch/>
        </p:blipFill>
        <p:spPr>
          <a:xfrm>
            <a:off x="6240600" y="1773360"/>
            <a:ext cx="4140000" cy="31050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WordArt 3"/>
          <p:cNvSpPr/>
          <p:nvPr/>
        </p:nvSpPr>
        <p:spPr>
          <a:xfrm>
            <a:off x="1343160" y="1989000"/>
            <a:ext cx="4681440" cy="30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ei søster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sister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21" name="图片 2"/>
          <p:cNvPicPr/>
          <p:nvPr/>
        </p:nvPicPr>
        <p:blipFill>
          <a:blip r:embed="rId1"/>
          <a:srcRect l="0" t="4851" r="0" b="0"/>
          <a:stretch/>
        </p:blipFill>
        <p:spPr>
          <a:xfrm>
            <a:off x="6527880" y="1143000"/>
            <a:ext cx="4133880" cy="38703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ordArt 3"/>
          <p:cNvSpPr/>
          <p:nvPr/>
        </p:nvSpPr>
        <p:spPr>
          <a:xfrm>
            <a:off x="1055520" y="1989000"/>
            <a:ext cx="3888000" cy="28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en bror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brother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23" name="图片 2"/>
          <p:cNvPicPr/>
          <p:nvPr/>
        </p:nvPicPr>
        <p:blipFill>
          <a:blip r:embed="rId1"/>
          <a:stretch/>
        </p:blipFill>
        <p:spPr>
          <a:xfrm>
            <a:off x="5951520" y="907920"/>
            <a:ext cx="4753080" cy="4651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WordArt 3"/>
          <p:cNvSpPr/>
          <p:nvPr/>
        </p:nvSpPr>
        <p:spPr>
          <a:xfrm>
            <a:off x="1487520" y="2205000"/>
            <a:ext cx="356544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søsken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siblings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25" name="图片 1" descr="7 Brother sister cartoon art ideas | brother sister cartoon art, brother sister, digital advertising design"/>
          <p:cNvPicPr/>
          <p:nvPr/>
        </p:nvPicPr>
        <p:blipFill>
          <a:blip r:embed="rId1"/>
          <a:stretch/>
        </p:blipFill>
        <p:spPr>
          <a:xfrm>
            <a:off x="6002280" y="1278000"/>
            <a:ext cx="5229360" cy="43020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WordArt 3"/>
          <p:cNvSpPr/>
          <p:nvPr/>
        </p:nvSpPr>
        <p:spPr>
          <a:xfrm>
            <a:off x="911160" y="1844640"/>
            <a:ext cx="5111640" cy="26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et enebarn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an only child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27" name="图片 2"/>
          <p:cNvPicPr/>
          <p:nvPr/>
        </p:nvPicPr>
        <p:blipFill>
          <a:blip r:embed="rId1"/>
          <a:stretch/>
        </p:blipFill>
        <p:spPr>
          <a:xfrm>
            <a:off x="6616800" y="1393920"/>
            <a:ext cx="4643280" cy="30970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WordArt 3"/>
          <p:cNvSpPr/>
          <p:nvPr/>
        </p:nvSpPr>
        <p:spPr>
          <a:xfrm>
            <a:off x="1127160" y="2097000"/>
            <a:ext cx="3529080" cy="26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ei tante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an aunt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29" name="图片 2"/>
          <p:cNvPicPr/>
          <p:nvPr/>
        </p:nvPicPr>
        <p:blipFill>
          <a:blip r:embed="rId1"/>
          <a:stretch/>
        </p:blipFill>
        <p:spPr>
          <a:xfrm>
            <a:off x="5880240" y="981000"/>
            <a:ext cx="4475160" cy="47610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WordArt 3"/>
          <p:cNvSpPr/>
          <p:nvPr/>
        </p:nvSpPr>
        <p:spPr>
          <a:xfrm>
            <a:off x="1200240" y="2060640"/>
            <a:ext cx="3671640" cy="273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en onkel</a:t>
            </a: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	</a:t>
            </a: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 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an uncle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31" name="图片 2"/>
          <p:cNvPicPr/>
          <p:nvPr/>
        </p:nvPicPr>
        <p:blipFill>
          <a:blip r:embed="rId1"/>
          <a:stretch/>
        </p:blipFill>
        <p:spPr>
          <a:xfrm>
            <a:off x="5808600" y="1052640"/>
            <a:ext cx="4538880" cy="4408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WordArt 3"/>
          <p:cNvSpPr/>
          <p:nvPr/>
        </p:nvSpPr>
        <p:spPr>
          <a:xfrm>
            <a:off x="2351160" y="1989000"/>
            <a:ext cx="89294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ei kusine</a:t>
            </a: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	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cousin (female)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</p:spTree>
  </p:cSld>
  <p:transition spd="slow">
    <p:random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WordArt 3"/>
          <p:cNvSpPr/>
          <p:nvPr/>
        </p:nvSpPr>
        <p:spPr>
          <a:xfrm>
            <a:off x="2711520" y="1916280"/>
            <a:ext cx="7345440" cy="28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en fetter </a:t>
            </a: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	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cousin (male)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</p:spTree>
  </p:cSld>
  <p:transition spd="slow">
    <p:random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WordArt 3"/>
          <p:cNvSpPr/>
          <p:nvPr/>
        </p:nvSpPr>
        <p:spPr>
          <a:xfrm>
            <a:off x="1271520" y="1413000"/>
            <a:ext cx="5977080" cy="38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6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ei bestemor</a:t>
            </a:r>
            <a:r>
              <a:rPr lang="nb-NO" sz="6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	</a:t>
            </a:r>
            <a:endParaRPr lang="en-US" sz="6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6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grandmother</a:t>
            </a:r>
            <a:endParaRPr lang="en-US" sz="6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6600" b="0" u="none" strike="noStrike">
                <a:solidFill>
                  <a:srgbClr val="404040"/>
                </a:solidFill>
                <a:effectLst/>
                <a:uFillTx/>
                <a:latin typeface="DeepSeek-CJK-patch"/>
                <a:ea typeface="黑体"/>
              </a:rPr>
              <a:t>外婆或奶奶</a:t>
            </a:r>
            <a:endParaRPr lang="en-US" sz="6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35" name="图片 1" descr="Aged people. Grandmother. Grandfather. Old age. Disability. For your design."/>
          <p:cNvPicPr/>
          <p:nvPr/>
        </p:nvPicPr>
        <p:blipFill>
          <a:blip r:embed="rId1"/>
          <a:stretch/>
        </p:blipFill>
        <p:spPr>
          <a:xfrm>
            <a:off x="7248600" y="1557360"/>
            <a:ext cx="3806640" cy="38066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WordArt 3"/>
          <p:cNvSpPr/>
          <p:nvPr/>
        </p:nvSpPr>
        <p:spPr>
          <a:xfrm>
            <a:off x="1127160" y="1268280"/>
            <a:ext cx="5616720" cy="38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en bestefar</a:t>
            </a: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	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a grandfather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7000" b="0" u="none" strike="noStrike">
                <a:solidFill>
                  <a:srgbClr val="404040"/>
                </a:solidFill>
                <a:effectLst/>
                <a:uFillTx/>
                <a:latin typeface="DeepSeek-CJK-patch"/>
                <a:ea typeface="黑体"/>
              </a:rPr>
              <a:t>爷爷或外公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pic>
        <p:nvPicPr>
          <p:cNvPr id="37" name="图片 1" descr="Aged people. Grandmother. Grandfather. Old age. Disability. For your design."/>
          <p:cNvPicPr/>
          <p:nvPr/>
        </p:nvPicPr>
        <p:blipFill>
          <a:blip r:embed="rId1"/>
          <a:stretch/>
        </p:blipFill>
        <p:spPr>
          <a:xfrm>
            <a:off x="6743880" y="1170000"/>
            <a:ext cx="4518000" cy="45180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WordArt 3"/>
          <p:cNvSpPr/>
          <p:nvPr/>
        </p:nvSpPr>
        <p:spPr>
          <a:xfrm>
            <a:off x="3792600" y="620640"/>
            <a:ext cx="4464000" cy="50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farfar</a:t>
            </a: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	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farmor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mormor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morfar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</p:spTree>
  </p:cSld>
  <p:transition spd="slow">
    <p:random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WordArt 3"/>
          <p:cNvSpPr/>
          <p:nvPr/>
        </p:nvSpPr>
        <p:spPr>
          <a:xfrm>
            <a:off x="2855880" y="2133720"/>
            <a:ext cx="6335640" cy="25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besteforeldre </a:t>
            </a: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	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70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grandparents</a:t>
            </a:r>
            <a:endParaRPr lang="en-US" sz="70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</p:spTree>
  </p:cSld>
  <p:transition spd="slow">
    <p:random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2" descr="Cute hand-drawn My Family illustration featuring cartoon family members with English labels, ideal for educational worksheets, vocabulary learning, and classroom activities."/>
          <p:cNvPicPr/>
          <p:nvPr/>
        </p:nvPicPr>
        <p:blipFill>
          <a:blip r:embed="rId1"/>
          <a:srcRect l="6395" t="0" r="8512" b="0"/>
          <a:stretch/>
        </p:blipFill>
        <p:spPr>
          <a:xfrm>
            <a:off x="766800" y="933480"/>
            <a:ext cx="5761080" cy="47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WordArt 3"/>
          <p:cNvSpPr/>
          <p:nvPr/>
        </p:nvSpPr>
        <p:spPr>
          <a:xfrm>
            <a:off x="6935760" y="1268280"/>
            <a:ext cx="4200480" cy="44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noAutofit/>
          </a:bodyPr>
          <a:p>
            <a:pPr>
              <a:spcBef>
                <a:spcPts val="1375"/>
              </a:spcBef>
              <a:spcAft>
                <a:spcPts val="10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  <p:sp>
        <p:nvSpPr>
          <p:cNvPr id="42" name="文本框 6"/>
          <p:cNvSpPr/>
          <p:nvPr/>
        </p:nvSpPr>
        <p:spPr>
          <a:xfrm>
            <a:off x="6696000" y="1700280"/>
            <a:ext cx="4680000" cy="28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- Hvem er det?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- Det er moren min.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 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- Er det faren din? 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- Ja, det er faren min. 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</p:spTree>
  </p:cSld>
  <p:transition spd="slow">
    <p:random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3"/>
          <p:cNvSpPr/>
          <p:nvPr/>
        </p:nvSpPr>
        <p:spPr>
          <a:xfrm>
            <a:off x="1847880" y="1628640"/>
            <a:ext cx="9361440" cy="34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Jeg har en bror. 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Jeg har to søstre. 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Jeg er enebarn.</a:t>
            </a: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 Jeg har ingen søsken. 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Familien min er liten. 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Jeg bor sammen med familien min. 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</p:spTree>
  </p:cSld>
  <p:transition spd="slow">
    <p:random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1" descr="Cartoon Illustration Of A Family Tree"/>
          <p:cNvPicPr/>
          <p:nvPr/>
        </p:nvPicPr>
        <p:blipFill>
          <a:blip r:embed="rId1"/>
          <a:stretch/>
        </p:blipFill>
        <p:spPr>
          <a:xfrm>
            <a:off x="2927520" y="512640"/>
            <a:ext cx="5832360" cy="58327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random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3"/>
          <p:cNvSpPr/>
          <p:nvPr/>
        </p:nvSpPr>
        <p:spPr>
          <a:xfrm>
            <a:off x="1092240" y="1341360"/>
            <a:ext cx="10007640" cy="34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nb-NO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Hvor mange søsken har du?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Jeg har to søsken. Jeg har én bror og én søster.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Jeg er det eldste barnet i familien.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600" b="0" u="none" strike="noStrike">
                <a:solidFill>
                  <a:srgbClr val="404040"/>
                </a:solidFill>
                <a:effectLst/>
                <a:uFillTx/>
                <a:latin typeface="Arial"/>
                <a:ea typeface="黑体"/>
              </a:rPr>
              <a:t>Jeg er yngst i familien.</a:t>
            </a:r>
            <a:endParaRPr lang="en-US" sz="3600" b="0" u="none" strike="noStrike">
              <a:solidFill>
                <a:srgbClr val="404040"/>
              </a:solidFill>
              <a:effectLst/>
              <a:uFillTx/>
              <a:latin typeface="Arial"/>
            </a:endParaRPr>
          </a:p>
        </p:txBody>
      </p:sp>
    </p:spTree>
  </p:cSld>
  <p:transition spd="slow">
    <p:random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3403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dc:description/>
  <dc:language>zh-SG</dc:language>
  <cp:lastModifiedBy>Tingting Liu</cp:lastModifiedBy>
  <dcterms:modified xsi:type="dcterms:W3CDTF">2026-10-20T21:32:27Z</dcterms:modified>
  <cp:revision>94</cp:revision>
  <dc:subject/>
  <dc:title>一般过去时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_TemplateID">
    <vt:lpwstr>TC038961019991</vt:lpwstr>
  </property>
</Properties>
</file>