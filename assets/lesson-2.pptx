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84" r:id="rId2"/>
    <p:sldId id="286" r:id="rId3"/>
    <p:sldId id="489" r:id="rId4"/>
    <p:sldId id="509" r:id="rId5"/>
    <p:sldId id="508" r:id="rId6"/>
    <p:sldId id="494" r:id="rId7"/>
    <p:sldId id="495" r:id="rId8"/>
    <p:sldId id="496" r:id="rId9"/>
    <p:sldId id="497" r:id="rId10"/>
    <p:sldId id="498" r:id="rId11"/>
    <p:sldId id="499" r:id="rId12"/>
    <p:sldId id="500" r:id="rId13"/>
    <p:sldId id="501" r:id="rId14"/>
    <p:sldId id="502" r:id="rId15"/>
    <p:sldId id="503" r:id="rId16"/>
    <p:sldId id="504" r:id="rId17"/>
    <p:sldId id="505" r:id="rId18"/>
    <p:sldId id="519" r:id="rId19"/>
    <p:sldId id="543" r:id="rId20"/>
    <p:sldId id="542" r:id="rId21"/>
    <p:sldId id="301" r:id="rId22"/>
    <p:sldId id="513" r:id="rId23"/>
    <p:sldId id="514" r:id="rId24"/>
    <p:sldId id="515" r:id="rId25"/>
    <p:sldId id="516" r:id="rId26"/>
    <p:sldId id="517" r:id="rId27"/>
    <p:sldId id="521" r:id="rId28"/>
    <p:sldId id="520" r:id="rId29"/>
    <p:sldId id="490" r:id="rId30"/>
    <p:sldId id="522" r:id="rId31"/>
    <p:sldId id="523" r:id="rId32"/>
    <p:sldId id="524" r:id="rId33"/>
    <p:sldId id="525" r:id="rId34"/>
    <p:sldId id="526" r:id="rId35"/>
    <p:sldId id="527" r:id="rId36"/>
    <p:sldId id="528" r:id="rId37"/>
    <p:sldId id="529" r:id="rId38"/>
    <p:sldId id="536" r:id="rId39"/>
    <p:sldId id="537" r:id="rId40"/>
    <p:sldId id="530" r:id="rId41"/>
    <p:sldId id="531" r:id="rId42"/>
    <p:sldId id="532" r:id="rId43"/>
    <p:sldId id="533" r:id="rId44"/>
    <p:sldId id="534" r:id="rId45"/>
    <p:sldId id="535" r:id="rId46"/>
    <p:sldId id="538" r:id="rId47"/>
    <p:sldId id="539" r:id="rId48"/>
    <p:sldId id="540" r:id="rId49"/>
    <p:sldId id="541" r:id="rId50"/>
    <p:sldId id="544" r:id="rId51"/>
    <p:sldId id="545" r:id="rId52"/>
    <p:sldId id="546" r:id="rId53"/>
    <p:sldId id="547" r:id="rId54"/>
    <p:sldId id="548" r:id="rId55"/>
    <p:sldId id="549" r:id="rId56"/>
    <p:sldId id="550" r:id="rId57"/>
    <p:sldId id="551" r:id="rId58"/>
    <p:sldId id="554" r:id="rId59"/>
    <p:sldId id="555" r:id="rId60"/>
    <p:sldId id="552" r:id="rId61"/>
    <p:sldId id="553" r:id="rId62"/>
    <p:sldId id="556" r:id="rId63"/>
    <p:sldId id="557" r:id="rId64"/>
    <p:sldId id="491" r:id="rId65"/>
    <p:sldId id="492" r:id="rId66"/>
    <p:sldId id="493" r:id="rId6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3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09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Rg st="1" end="66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585"/>
    <a:srgbClr val="607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693" y="327"/>
      </p:cViewPr>
      <p:guideLst>
        <p:guide pos="393"/>
        <p:guide pos="7256"/>
        <p:guide orient="horz" pos="648"/>
        <p:guide orient="horz" pos="709"/>
        <p:guide orient="horz" pos="3928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125BFA-9804-4093-88E2-8B632930CFDC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CF4FD-A07C-4D73-8CA3-57646D4BEA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40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87EFB-9402-751D-B1EC-FFFECA2C1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863D2D-5D6A-2495-7A35-CA85EF03B2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AC441F-C4E9-FC78-B472-0AA1C5488D1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31B8E3F-4E27-4699-8D9A-98688204CF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2ABC375-BD60-01F7-4792-AB3DE338D9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这是我们今天将要学习的词汇列表。我们将从基础的问候语、人称代词开始，逐步学习一些常见的名词和动词。希望通过这次学习，你能掌握一些实用的挪威语表达。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ED7E8-E02F-F46C-5EB3-580BC440619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D4A7E-B150-1AEB-E1C7-C3E0D717C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19219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4FA5C-51CE-77AF-85D9-250EA8B3A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2918FE-80B3-A35E-7CF5-19EFCDE6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5BDBF-F9A4-12C5-FC10-E1D0C3D31BA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EAC2091-BB55-461B-2446-719BE79B06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23ECCE6-41A0-BC2F-51C7-A89D7D941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这是我们今天将要学习的词汇列表。我们将从基础的问候语、人称代词开始，逐步学习一些常见的名词和动词。希望通过这次学习，你能掌握一些实用的挪威语表达。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CD9D5-ECB4-FDB6-1558-C98A042616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BEBC0-4D9C-003D-9EDF-A20001E13D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96972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BDD21-F479-0344-AEEA-E086F0825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866514-43B7-D0F2-AD64-70C84B9BE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72A44F-A944-50A6-A9CC-770FC01BF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9C75DB-22D5-C59C-E62E-AC03F279F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621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C4F98-A721-C3B9-52DB-8C993994A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9FC248-C9C9-5708-C695-5E31E46B7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F0B431-C79E-0165-F306-6E990802D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07B5D7-B1C8-F50A-1855-F6647A41C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158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772EA-B4D2-52ED-561C-C71CAAD3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193FDA-9A71-6EC7-547B-43BE24B12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0E8D3B-61BC-6354-0293-56DBD0D75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6D0365-5BB7-0399-63EB-FEA08C5D4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16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A8839-4CE5-5C9C-5DBE-70464E999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A6DBD5-798D-B684-92EB-C445A67C0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92512E-4894-45E7-3F4B-803194176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E8EDB-40AE-66F7-E42A-D4AAD53E3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096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4949F-B83B-66DA-99E9-4B384D944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4043B6-4D58-99D8-8256-3E304A710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4A13A1-01BA-13B4-6BC7-CB5E14C65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E54397-E024-F2E8-3BFB-FF6BAC587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429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EE2C1-08DE-2A40-60DC-AA79F183B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AFADF9-FC22-47D3-4C66-C6DA7C378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370EDE-45F4-968C-C253-92C949B06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076473-C541-124C-F2DF-16BBAB2A6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854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A7C01-1346-6E86-BECF-0E355F52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5A08FC-8F3F-032E-FBCB-38EA844D3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98BE87-825F-960E-6226-C30CABE0D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2E38D9-AC73-9BF4-3028-64DB8B8D7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886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71592-E0A9-0E39-3118-8D246044E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5055A9-ACAB-A794-EEF0-80A1E0CFB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9E1A8E-4BE3-516C-26CC-50909E428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223163-8BA3-9434-AE06-25D93621B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713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DFDF7-9FB1-5BC1-6EAA-8C5D82D3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48E6F7-D956-CDF3-D7E6-BB82D5E21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6435C5-C398-725B-C28B-B87B778B4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51D13-6519-9018-9057-03743741A4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297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A8900-410B-0CB6-E7BB-68CB6BF5D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DB76CC-4FF2-C726-4195-231D0EC5F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E5B395-35B5-85B3-E423-6F9839E55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DA81B9-D965-9CA8-5C5E-701C4A7D1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607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451ED-5B90-9120-6D29-9F107228F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AD93ED-F5AE-0D7B-CDFA-BADF7BA72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00D022-C7A8-6310-8D48-8534C385A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5FFF0C-59AE-1D8B-67D5-9E01DE2FA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2140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28CB3-505D-62C8-9944-70D19BA51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92EDB5-6CE9-E523-D9EC-38283622C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F14BAD-EF69-D640-1A3B-D4AA1DA90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1766C6-B39E-91DA-3022-857C36F7C1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864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EEBCE-2A3B-B9AA-8E95-7C2C8F66D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7D6897-F986-8D2A-D474-29317AB93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B543C3-01D9-D5DB-A4C3-759A5B058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A4FDC4-F12B-F191-6073-2ACEE83E7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6913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FE4B8-BA1A-4C60-3C30-6D9849400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1F1D1C-9FDD-BD3E-F799-0D66BF29E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EDA52B-C41F-3D29-7BFA-548DDAB11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6139CE-AF72-AB00-610C-FDA276A8E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505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AD9F5-8D6F-AC47-F541-B6DEEE87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1369AF-4C29-DBF0-3907-15CD9C77D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E54719-AD20-9DE8-8A74-B37BA0B36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65DADD-4F7D-8A20-112A-9C448253D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8433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26E29-FDB5-7A6B-7C7B-29A39538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E212F5-2BC8-C7FB-E499-51A3352CB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AB75B3-FB25-7CD4-B73F-97F7F6DFD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E1FF64-581E-2B28-86DF-112A9DEFB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5316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61BC2-9863-3641-FE9F-76B3F876D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F76ABB-B7F0-81FB-3C5E-419AB294E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96AE5E-645B-1192-00ED-FFD7C77C7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D08739-8D6D-D360-9C47-80C1398D8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18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7F1C-19FB-C56F-642F-6330FAF60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C7E289-5E80-4C3C-6ECD-2BF379D96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572520-EA87-D049-FDC6-BE9E7E700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E0E2E0-BF06-BD05-0842-2C01651C4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4043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6BE46-FE22-13E1-59B2-A2C45BB76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247835-2F82-4B2C-6489-4D941ED2C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7B45AE-4337-C4BB-F599-97AC13B63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112AEB-375D-2344-703E-0ADFAA23A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5822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7CE14-DD1C-AD17-9BBE-12B1F3723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0F5836-4493-D614-6A24-466055117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64CDBA-1B6C-9CA1-C44F-EAB31FAD2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BA13FF-DE32-724A-5C49-799EC63A1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8862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E88C0-1452-CF06-4089-FCDE9ABD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8CF1AB-614A-C18D-BD30-691237673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2D5269-8AC6-70A4-56C0-F429BABB2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8AA955-8181-49AA-E128-BBD214BAE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6587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9DD90-DA7F-2551-6C70-9FCCCDA89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72AF39-367E-8028-05EB-B31CF228F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1D9C12-5397-B542-774C-76326698E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655468-1DA3-5A49-BBA1-CA00FE9C6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5961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8E3F0-D0F3-BCBD-BAD2-CE317BF85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1857E6F-6F2F-4BD7-F5DC-7D7ACDD4B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3346D6-B85A-D72E-C058-8A5C205F2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727D2B-3644-3439-5146-87F64E773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3940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1F6E9-4E47-35D3-0FD7-71E1E3172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0F72A0-493C-D114-9CBD-5FDD46F9B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7CF041-4097-871B-8E0A-0137315B6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952E39-FFFB-172E-21E4-B2F40976D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1433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C308F-B19A-D38A-1024-A5866C05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6CA09B-20D3-2DF6-6BCB-5B2814E2B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3C9525-78AD-D4EB-22F8-54EBEAD69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3128E2-5F4E-06ED-FDE2-78DA0FDC6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2220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86247-B421-5E74-BF50-A4F187D1D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2D8BA0-27EA-2F36-4840-68C2EA99E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C420E8-4F54-350E-ED82-C913C6389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C4A7CC-E286-80AC-C9F5-E340B2AC3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5227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37131-6E03-D106-BDBE-05F645C2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C8632C-A10E-0B0F-DF96-300BD886B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C79C60-2A3B-A7B1-90BD-455CB06E8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E25753-8785-B4A1-B1D2-32F25C0DA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1798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FF2DF-AD83-E8D4-9CED-36F4894E4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2C8A6B-254A-50B0-FD08-4B629C7A5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532B66-973F-1B66-E475-78E2E0067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FC7C8-C0D5-E6D1-C2F7-2CCA0E27E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6334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4CD3B-131D-B179-8DB6-EAB1D68E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4EA727-F894-9909-9535-7053ABAD5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3A98B3-02FD-B78C-23D6-884673154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3DB508-08C9-68C8-1B1C-910A782F1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6625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94FA6-031E-6EAE-D0E5-DE81B53FB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4E6BA2-4E74-20D3-CFEC-6329187B4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51A46D-3BB6-E4B9-B724-D02F25596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DFEC33-8B85-B698-D1BA-5F54BD47C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6835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EC511-0FB5-203C-DB08-F6633C6CE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8A5816-88C5-74C1-D777-B3700C902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D175B8-DECF-6038-4EA0-02964F8DF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23527B-F517-4EDB-5680-EC28FBB9A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603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D9DC8-47C7-000F-FB5A-02B3570EB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7AD615-8A14-F082-94AB-6388D4836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1658EB-D309-A22B-8F59-BF973B63C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8B710-DF52-E067-E942-589862EBC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0066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83626-0034-2709-A835-1669306E3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89A19A-5267-C5A6-33DC-515290C77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288E16-352C-9B6A-88CF-97FBFA926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762F99-1972-4C0D-372E-367CC6010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2715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50298-FE7D-87E9-359A-35AFA00A6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EC7F87-B3B1-ED58-B03E-86845F380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106566-79B5-F0BD-C08F-A8C07B2BC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253DF4-05FB-CC68-BAC6-D1F4DF668D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2056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CF245-BE46-5B09-A873-A92701F1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01328D-7163-A8BC-114C-B4821F64C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17F26D-E2BB-C9F6-5627-DCA547713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D82F96-6D27-5043-2ED2-E2FBC4FB7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3327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64B02-35EC-038B-D426-CFEDA0519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61430E-B955-3BAB-4254-00E40CDF3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1FF58C-322E-0F0C-E759-BB27B581F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6B12E2-2FC8-333C-CAF6-151F6F1F0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3378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23C0F-5E17-6277-31E4-6F9F6680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E9A440-3840-CA50-6EDF-D887D2B7C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117080-5C7C-BD0B-F355-D35A11C12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580BC5-876C-D1E8-248D-16D6D4979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0113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33A91-162C-BAE0-7269-FEF36318B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70C53E-66A2-F4B5-9F49-9C02E9706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07DD70-9D1F-AD68-6FFF-8BCAF1C23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C09994-A6AE-ABC0-BF9F-47C5EC849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4106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1E0F3-7775-46E5-5632-CD7746368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AA3706-7202-80A5-4536-563942A28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1EE80F-BE75-8700-CF0D-60E783433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430E2F-4932-1780-E7C3-F215560BE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2541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7EDD-C4F5-406C-7569-FC0E6E535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04517B-A15C-D6DB-69AF-E96221905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882858-DEDB-F752-EBCC-0A7E29108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917BB-E23D-130A-108F-97E94267E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9159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19545-CF30-C0F6-63CB-3F1F7C8A1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13560A-6B4F-03FC-425F-37B68E2AB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0B795F-6122-33B3-3004-2C101383B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DEFBA9-833A-9F5F-1B17-E5C6946ED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73322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6C888-B93C-0B57-24B5-977FA0A94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2C468C-CBE4-CBB5-F321-1A8D13E50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351EE4-B52B-2778-70DD-87CC29FB0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C213A2-3297-DF0B-DF44-16CA97569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451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CEA5B-ADCC-CC86-A3A0-78C56B5E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421D53-3345-4944-1ACA-3DC94E460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4C917F-4B2E-A63C-132A-3525E731E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44CF85-35A7-ACEA-8902-E2092B64D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5749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13648-E228-96BD-E205-0DA92F61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4B1C25-34E5-5EBD-0423-D266C2EE9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2207ED-67E9-1415-1A83-72A8728D1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53F8DD-F0ED-8EA6-5EF1-1F92C8CB0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0949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26BC8-5CDC-FF15-7CE7-2432341BA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711D8C-1410-88FA-45DE-848E902F1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9A179F-718A-B357-75A8-0D1C3803B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29CBED-4BE3-51D1-DE7B-9697473EE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7915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8327-5837-AD49-2077-51EA8EF79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6C7CAC-1E86-8823-CDDA-71F38C6D5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8828B8-783A-E387-AA49-E947A4D25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CBEAEF-B18C-DD66-4754-45453D246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7983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1669F-8D9B-74AE-9EE4-CDFE63A6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782375-FB89-2210-3113-49192998E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B23B31-1EA1-2A63-AAED-7FB738850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6A724A-73BC-A72A-C085-21DF686AE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14699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A5533-FCE5-7AAF-3953-F79B7BCD5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76A705-52FA-4325-3C14-70A302987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A1208C-8299-B444-96E6-BE9606D72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13F045-B751-8B4C-400B-EA97DF5B5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0409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C3877-CD51-9383-B437-D307ADB33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083D6B-8FF3-82D9-ECB1-7182542B6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4D4692-D45D-FA5C-2A24-26F2D6BFA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C4E911-7848-794B-AF12-171B0D5BCE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23941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90DF6-641E-4264-DBDA-4C43CC928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594226-F7D9-BE76-E7AC-085235E13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AD5E7B-4F6A-C97F-4BE6-0DDA05C4A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E581BB-1A23-AA28-D2B5-3D6B60146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87956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53E9-3903-EA8D-1840-247AA39BF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690351-BE74-4588-9E9E-BB7D3082D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338518-FC49-4403-C031-D75C7CB37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BA5EBF-8C33-6E69-B72D-7B798CB92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37484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B4F10-40F5-D147-C974-33014B5D1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BE7470-7E56-D17F-4FC6-19AA9D987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1219E0-DB3F-1C6D-5902-81A4BD090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8DD8DA-08D4-AD86-2A91-1CB1D8A2F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30928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2E88D-FDA0-F4D6-5F4B-4D58D813D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328634-A964-5C76-E4CD-26027473D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73B10A-C36D-3A85-8CD1-685B82BAC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461A2D-FACE-33C9-7B9D-EB1E49A0F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64750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A8756-DAF5-25F5-6C18-374E9789E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CB8EFE-06EA-109E-0B22-594692E0F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37251A-2918-A6ED-87C0-08A1A2639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07787B-0494-ED09-DB57-4B4490278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10566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C09F0-390F-CAAF-E27F-F1A44309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D6F4EC-5ACE-D3F7-DB7A-1EC5AEB47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B373F0-EE66-E2C9-D6E7-8C3016FE9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9C7611-4CBB-C5B3-2009-B0C8DBCEE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140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78DD6B-46E5-46A0-8748-F271F6A9D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34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78DD6B-46E5-46A0-8748-F271F6A9D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08B856-603C-4B47-9159-C9A7E23A38EC}"/>
              </a:ext>
            </a:extLst>
          </p:cNvPr>
          <p:cNvSpPr/>
          <p:nvPr userDrawn="1"/>
        </p:nvSpPr>
        <p:spPr>
          <a:xfrm>
            <a:off x="176270" y="99152"/>
            <a:ext cx="11839460" cy="66596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A3FAD3-13F2-4CD1-9283-D29261CFDA2E}"/>
              </a:ext>
            </a:extLst>
          </p:cNvPr>
          <p:cNvSpPr txBox="1"/>
          <p:nvPr userDrawn="1"/>
        </p:nvSpPr>
        <p:spPr>
          <a:xfrm>
            <a:off x="1141904" y="280715"/>
            <a:ext cx="949404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1" i="0" u="none" strike="noStrike" cap="none" spc="0" normalizeH="0" baseline="0">
                <a:ln>
                  <a:noFill/>
                </a:ln>
                <a:gradFill flip="none" rotWithShape="1">
                  <a:gsLst>
                    <a:gs pos="51000">
                      <a:schemeClr val="tx1">
                        <a:lumMod val="85000"/>
                        <a:lumOff val="15000"/>
                      </a:schemeClr>
                    </a:gs>
                    <a:gs pos="51000">
                      <a:srgbClr val="000000">
                        <a:lumMod val="75000"/>
                        <a:lumOff val="25000"/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</a:defRPr>
            </a:lvl1pPr>
          </a:lstStyle>
          <a:p>
            <a:pPr algn="l"/>
            <a:r>
              <a:rPr lang="zh-CN" altLang="en-US" sz="3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作者简介</a:t>
            </a:r>
          </a:p>
        </p:txBody>
      </p:sp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FE9F7F45-7325-4317-BFE1-D1ADDDD8772F}"/>
              </a:ext>
            </a:extLst>
          </p:cNvPr>
          <p:cNvSpPr/>
          <p:nvPr userDrawn="1"/>
        </p:nvSpPr>
        <p:spPr>
          <a:xfrm rot="5400000">
            <a:off x="330069" y="232369"/>
            <a:ext cx="435426" cy="7430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4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435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78DD6B-46E5-46A0-8748-F271F6A9D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08B856-603C-4B47-9159-C9A7E23A38EC}"/>
              </a:ext>
            </a:extLst>
          </p:cNvPr>
          <p:cNvSpPr/>
          <p:nvPr userDrawn="1"/>
        </p:nvSpPr>
        <p:spPr>
          <a:xfrm>
            <a:off x="176270" y="99152"/>
            <a:ext cx="11839460" cy="66596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A3FAD3-13F2-4CD1-9283-D29261CFDA2E}"/>
              </a:ext>
            </a:extLst>
          </p:cNvPr>
          <p:cNvSpPr txBox="1"/>
          <p:nvPr userDrawn="1"/>
        </p:nvSpPr>
        <p:spPr>
          <a:xfrm>
            <a:off x="1141904" y="280715"/>
            <a:ext cx="949404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1" i="0" u="none" strike="noStrike" cap="none" spc="0" normalizeH="0" baseline="0">
                <a:ln>
                  <a:noFill/>
                </a:ln>
                <a:gradFill flip="none" rotWithShape="1">
                  <a:gsLst>
                    <a:gs pos="51000">
                      <a:schemeClr val="tx1">
                        <a:lumMod val="85000"/>
                        <a:lumOff val="15000"/>
                      </a:schemeClr>
                    </a:gs>
                    <a:gs pos="51000">
                      <a:srgbClr val="000000">
                        <a:lumMod val="75000"/>
                        <a:lumOff val="25000"/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</a:defRPr>
            </a:lvl1pPr>
          </a:lstStyle>
          <a:p>
            <a:pPr algn="l"/>
            <a:r>
              <a:rPr lang="zh-CN" altLang="en-US" sz="3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内容简介</a:t>
            </a:r>
          </a:p>
        </p:txBody>
      </p:sp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FE9F7F45-7325-4317-BFE1-D1ADDDD8772F}"/>
              </a:ext>
            </a:extLst>
          </p:cNvPr>
          <p:cNvSpPr/>
          <p:nvPr userDrawn="1"/>
        </p:nvSpPr>
        <p:spPr>
          <a:xfrm rot="5400000">
            <a:off x="330069" y="232369"/>
            <a:ext cx="435426" cy="7430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4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189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78DD6B-46E5-46A0-8748-F271F6A9D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08B856-603C-4B47-9159-C9A7E23A38EC}"/>
              </a:ext>
            </a:extLst>
          </p:cNvPr>
          <p:cNvSpPr/>
          <p:nvPr userDrawn="1"/>
        </p:nvSpPr>
        <p:spPr>
          <a:xfrm>
            <a:off x="176270" y="99152"/>
            <a:ext cx="11839460" cy="66596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A3FAD3-13F2-4CD1-9283-D29261CFDA2E}"/>
              </a:ext>
            </a:extLst>
          </p:cNvPr>
          <p:cNvSpPr txBox="1"/>
          <p:nvPr userDrawn="1"/>
        </p:nvSpPr>
        <p:spPr>
          <a:xfrm>
            <a:off x="1141904" y="280715"/>
            <a:ext cx="949404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1" i="0" u="none" strike="noStrike" cap="none" spc="0" normalizeH="0" baseline="0">
                <a:ln>
                  <a:noFill/>
                </a:ln>
                <a:gradFill flip="none" rotWithShape="1">
                  <a:gsLst>
                    <a:gs pos="51000">
                      <a:schemeClr val="tx1">
                        <a:lumMod val="85000"/>
                        <a:lumOff val="15000"/>
                      </a:schemeClr>
                    </a:gs>
                    <a:gs pos="51000">
                      <a:srgbClr val="000000">
                        <a:lumMod val="75000"/>
                        <a:lumOff val="25000"/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</a:defRPr>
            </a:lvl1pPr>
          </a:lstStyle>
          <a:p>
            <a:pPr algn="l"/>
            <a:r>
              <a:rPr lang="zh-CN" altLang="en-US" sz="3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精彩分享</a:t>
            </a:r>
          </a:p>
        </p:txBody>
      </p:sp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FE9F7F45-7325-4317-BFE1-D1ADDDD8772F}"/>
              </a:ext>
            </a:extLst>
          </p:cNvPr>
          <p:cNvSpPr/>
          <p:nvPr userDrawn="1"/>
        </p:nvSpPr>
        <p:spPr>
          <a:xfrm rot="5400000">
            <a:off x="330069" y="232369"/>
            <a:ext cx="435426" cy="7430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4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61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4F7677AC-35B2-4031-8BFC-069432CE8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46EDD1A-F999-47FE-AB89-A950BF78679E}"/>
              </a:ext>
            </a:extLst>
          </p:cNvPr>
          <p:cNvSpPr/>
          <p:nvPr userDrawn="1"/>
        </p:nvSpPr>
        <p:spPr>
          <a:xfrm>
            <a:off x="176270" y="99152"/>
            <a:ext cx="11839460" cy="66596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顶角 12">
            <a:extLst>
              <a:ext uri="{FF2B5EF4-FFF2-40B4-BE49-F238E27FC236}">
                <a16:creationId xmlns:a16="http://schemas.microsoft.com/office/drawing/2014/main" id="{10441D44-3BDA-46B5-A7EA-273A2FA2F73A}"/>
              </a:ext>
            </a:extLst>
          </p:cNvPr>
          <p:cNvSpPr/>
          <p:nvPr userDrawn="1"/>
        </p:nvSpPr>
        <p:spPr>
          <a:xfrm rot="5400000">
            <a:off x="330069" y="232369"/>
            <a:ext cx="435426" cy="7430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4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E4FE133-F81F-0514-8CF1-F56EF9108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387" y="401497"/>
            <a:ext cx="5933536" cy="549275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64315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3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116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EAFD8E-685F-40BD-B2A9-34CECD370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9172F3-7A92-46E8-888E-0F0767758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ACF382-3128-491C-A07F-F25DE83C1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D6B94-8ACF-4077-8696-3DD92418CED2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3485A7-3C95-43C6-ACB0-7F49417AD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17D102-9642-4449-83F9-D2D058B97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D4F94-E846-4316-A9F3-ADEB04DF0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008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63" r:id="rId5"/>
    <p:sldLayoutId id="214748366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p3"/><Relationship Id="rId2" Type="http://schemas.microsoft.com/office/2007/relationships/media" Target="../media/media1.mp3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形">
            <a:extLst>
              <a:ext uri="{FF2B5EF4-FFF2-40B4-BE49-F238E27FC236}">
                <a16:creationId xmlns:a16="http://schemas.microsoft.com/office/drawing/2014/main" id="{8D26B845-B235-498A-8B25-F43982FB3EE1}"/>
              </a:ext>
            </a:extLst>
          </p:cNvPr>
          <p:cNvSpPr txBox="1"/>
          <p:nvPr/>
        </p:nvSpPr>
        <p:spPr>
          <a:xfrm>
            <a:off x="1257300" y="2299396"/>
            <a:ext cx="10115550" cy="1268458"/>
          </a:xfrm>
          <a:prstGeom prst="rect">
            <a:avLst/>
          </a:prstGeom>
          <a:noFill/>
          <a:effectLst/>
        </p:spPr>
        <p:txBody>
          <a:bodyPr wrap="square" lIns="104680" tIns="52341" rIns="104680" bIns="52341" rtlCol="0">
            <a:spAutoFit/>
          </a:bodyPr>
          <a:lstStyle/>
          <a:p>
            <a:pPr lvl="0" algn="ctr">
              <a:defRPr/>
            </a:pPr>
            <a:r>
              <a:rPr lang="en-US" altLang="zh-CN" sz="7556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《God </a:t>
            </a:r>
            <a:r>
              <a:rPr lang="en-US" altLang="zh-CN" sz="7556" dirty="0" err="1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i</a:t>
            </a:r>
            <a:r>
              <a:rPr lang="en-US" altLang="zh-CN" sz="7556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 </a:t>
            </a:r>
            <a:r>
              <a:rPr lang="en-US" altLang="zh-CN" sz="7556" dirty="0" err="1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norsk</a:t>
            </a:r>
            <a:r>
              <a:rPr lang="en-US" altLang="zh-CN" sz="7556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 A1/A2</a:t>
            </a:r>
            <a:r>
              <a:rPr kumimoji="0" lang="en-US" altLang="zh-CN" sz="7556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》</a:t>
            </a:r>
            <a:endParaRPr kumimoji="0" lang="zh-CN" altLang="en-US" sz="7556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" panose="00020600040101010101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5B84646-243D-4D85-B4F8-7215D177E845}"/>
              </a:ext>
            </a:extLst>
          </p:cNvPr>
          <p:cNvSpPr txBox="1"/>
          <p:nvPr/>
        </p:nvSpPr>
        <p:spPr>
          <a:xfrm>
            <a:off x="3458933" y="1280467"/>
            <a:ext cx="523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TEACHING &amp; LEARNING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pic>
        <p:nvPicPr>
          <p:cNvPr id="27" name="其他元素4">
            <a:hlinkClick r:id="" action="ppaction://media"/>
            <a:extLst>
              <a:ext uri="{FF2B5EF4-FFF2-40B4-BE49-F238E27FC236}">
                <a16:creationId xmlns:a16="http://schemas.microsoft.com/office/drawing/2014/main" id="{0381DCD6-3097-4F34-8422-AAF300CCCB68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9231" y="-78422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48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11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  <p:bldLst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B4CD78B-B5E5-4F12-A01A-7B9FBB451293}"/>
              </a:ext>
            </a:extLst>
          </p:cNvPr>
          <p:cNvSpPr txBox="1"/>
          <p:nvPr/>
        </p:nvSpPr>
        <p:spPr>
          <a:xfrm>
            <a:off x="4237342" y="1614221"/>
            <a:ext cx="370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Chapter 1</a:t>
            </a:r>
            <a:endParaRPr lang="zh-CN" altLang="en-US" sz="4400" spc="300" dirty="0">
              <a:solidFill>
                <a:srgbClr val="94A585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71CC13-FA60-4614-BDB3-42076670C2A2}"/>
              </a:ext>
            </a:extLst>
          </p:cNvPr>
          <p:cNvSpPr txBox="1"/>
          <p:nvPr/>
        </p:nvSpPr>
        <p:spPr>
          <a:xfrm>
            <a:off x="2216228" y="2532743"/>
            <a:ext cx="77468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Vi </a:t>
            </a:r>
            <a:r>
              <a:rPr lang="en-US" altLang="zh-CN" sz="9600" spc="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blir</a:t>
            </a:r>
            <a:r>
              <a:rPr lang="en-US" altLang="zh-CN" sz="96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 </a:t>
            </a:r>
            <a:r>
              <a:rPr lang="en-US" altLang="zh-CN" sz="9600" spc="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kjent</a:t>
            </a:r>
            <a:endParaRPr lang="zh-CN" altLang="en-US" sz="9600" spc="300" dirty="0">
              <a:solidFill>
                <a:schemeClr val="tx1">
                  <a:lumMod val="65000"/>
                  <a:lumOff val="3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770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fade thruBlk="1"/>
      </p:transition>
    </mc:Choice>
    <mc:Fallback xmlns="">
      <p:transition spd="slow" advTm="3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77C80-6A17-55BC-4C44-76BC3DAA8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4ADC777-9770-783B-074D-8C7E83FA11A7}"/>
              </a:ext>
            </a:extLst>
          </p:cNvPr>
          <p:cNvSpPr txBox="1"/>
          <p:nvPr/>
        </p:nvSpPr>
        <p:spPr>
          <a:xfrm>
            <a:off x="2067461" y="2496526"/>
            <a:ext cx="80570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1.1 Hvor kommer du fra?</a:t>
            </a:r>
            <a:endParaRPr lang="zh-CN" altLang="en-US" sz="4400" b="1" spc="300" dirty="0">
              <a:solidFill>
                <a:srgbClr val="94A585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6397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fade thruBlk="1"/>
      </p:transition>
    </mc:Choice>
    <mc:Fallback xmlns="">
      <p:transition spd="slow" advTm="3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C4CF1-6C65-5F0A-3C9E-78A07FB7E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C4F1155E-F842-D20F-261F-13E4A42BC528}"/>
              </a:ext>
            </a:extLst>
          </p:cNvPr>
          <p:cNvSpPr/>
          <p:nvPr/>
        </p:nvSpPr>
        <p:spPr>
          <a:xfrm>
            <a:off x="1016000" y="12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单词</a:t>
            </a: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CA5D568-6416-010B-A6CE-845C5CF9356C}"/>
              </a:ext>
            </a:extLst>
          </p:cNvPr>
          <p:cNvSpPr/>
          <p:nvPr/>
        </p:nvSpPr>
        <p:spPr>
          <a:xfrm>
            <a:off x="1016000" y="2667000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2359010-59EB-F6E8-4042-6E406266138F}"/>
              </a:ext>
            </a:extLst>
          </p:cNvPr>
          <p:cNvSpPr/>
          <p:nvPr/>
        </p:nvSpPr>
        <p:spPr>
          <a:xfrm>
            <a:off x="1143000" y="26670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altLang="zh-CN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Marek</a:t>
            </a:r>
            <a:endParaRPr lang="en-US" sz="1100" dirty="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CA5E2A05-8D38-02E2-5A55-452F5118EB9F}"/>
              </a:ext>
            </a:extLst>
          </p:cNvPr>
          <p:cNvSpPr/>
          <p:nvPr/>
        </p:nvSpPr>
        <p:spPr>
          <a:xfrm>
            <a:off x="1016000" y="3429000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FABE2014-ED2F-10C5-C950-91F8EF27C0F3}"/>
              </a:ext>
            </a:extLst>
          </p:cNvPr>
          <p:cNvSpPr/>
          <p:nvPr/>
        </p:nvSpPr>
        <p:spPr>
          <a:xfrm>
            <a:off x="1143000" y="34290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</a:t>
            </a:r>
            <a:r>
              <a:rPr lang="en-US" altLang="zh-CN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Viola</a:t>
            </a:r>
            <a:endParaRPr lang="en-US" sz="1100" dirty="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909FF408-C14B-949E-0B48-3F158B192C65}"/>
              </a:ext>
            </a:extLst>
          </p:cNvPr>
          <p:cNvSpPr/>
          <p:nvPr/>
        </p:nvSpPr>
        <p:spPr>
          <a:xfrm>
            <a:off x="1016000" y="4191364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 dirty="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0783D411-9D65-33CE-92D8-01442E789443}"/>
              </a:ext>
            </a:extLst>
          </p:cNvPr>
          <p:cNvSpPr/>
          <p:nvPr/>
        </p:nvSpPr>
        <p:spPr>
          <a:xfrm>
            <a:off x="1059182" y="42037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</a:t>
            </a:r>
            <a:r>
              <a:rPr lang="en-US" altLang="zh-CN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Biniam</a:t>
            </a:r>
            <a:endParaRPr lang="en-US" sz="1100" b="1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489086FE-A6BB-472C-FBFF-D0B02F14CD9A}"/>
              </a:ext>
            </a:extLst>
          </p:cNvPr>
          <p:cNvSpPr/>
          <p:nvPr/>
        </p:nvSpPr>
        <p:spPr>
          <a:xfrm>
            <a:off x="4491082" y="3429000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D4CED978-0CD7-D5C1-D5EC-883E444F3BAA}"/>
              </a:ext>
            </a:extLst>
          </p:cNvPr>
          <p:cNvSpPr/>
          <p:nvPr/>
        </p:nvSpPr>
        <p:spPr>
          <a:xfrm>
            <a:off x="4572000" y="34290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07. </a:t>
            </a:r>
            <a:r>
              <a:rPr lang="en-US" altLang="zh-CN" sz="16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Sompit</a:t>
            </a:r>
            <a:endParaRPr lang="en-US" sz="1100" dirty="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2961531A-9861-CC91-03B4-B4C2A2ADC195}"/>
              </a:ext>
            </a:extLst>
          </p:cNvPr>
          <p:cNvSpPr/>
          <p:nvPr/>
        </p:nvSpPr>
        <p:spPr>
          <a:xfrm>
            <a:off x="4491082" y="2684418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AC41B7E3-AE99-2AF8-336F-4280311DA60C}"/>
              </a:ext>
            </a:extLst>
          </p:cNvPr>
          <p:cNvSpPr/>
          <p:nvPr/>
        </p:nvSpPr>
        <p:spPr>
          <a:xfrm>
            <a:off x="4572000" y="2684418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06.</a:t>
            </a: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Yousef</a:t>
            </a:r>
            <a:endParaRPr lang="en-US" sz="1100" dirty="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6A9B9B43-A981-8A16-CAF3-E2C8CE0476B8}"/>
              </a:ext>
            </a:extLst>
          </p:cNvPr>
          <p:cNvSpPr/>
          <p:nvPr/>
        </p:nvSpPr>
        <p:spPr>
          <a:xfrm>
            <a:off x="4191000" y="409664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89A1B4"/>
                </a:solidFill>
                <a:latin typeface="Noto Sans SC"/>
                <a:ea typeface="Noto Sans SC"/>
                <a:cs typeface="Noto Sans SC"/>
                <a:sym typeface="Noto Sans SC"/>
              </a:rPr>
              <a:t>人名</a:t>
            </a:r>
            <a:r>
              <a:rPr lang="en-US" sz="1800" b="1" i="0" u="none" strike="noStrike" dirty="0">
                <a:solidFill>
                  <a:srgbClr val="89A1B4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altLang="zh-CN" sz="1800" b="1" i="0" u="none" strike="noStrike" dirty="0">
                <a:solidFill>
                  <a:srgbClr val="89A1B4"/>
                </a:solidFill>
                <a:latin typeface="Noto Sans SC"/>
                <a:ea typeface="Noto Sans SC"/>
                <a:cs typeface="Noto Sans SC"/>
                <a:sym typeface="Noto Sans SC"/>
              </a:rPr>
              <a:t>Name</a:t>
            </a:r>
            <a:endParaRPr lang="en-US" sz="1100" dirty="0"/>
          </a:p>
        </p:txBody>
      </p:sp>
      <p:sp>
        <p:nvSpPr>
          <p:cNvPr id="38" name="AutoShape 5">
            <a:extLst>
              <a:ext uri="{FF2B5EF4-FFF2-40B4-BE49-F238E27FC236}">
                <a16:creationId xmlns:a16="http://schemas.microsoft.com/office/drawing/2014/main" id="{265E6809-0810-AB6A-62E3-C74D4952076B}"/>
              </a:ext>
            </a:extLst>
          </p:cNvPr>
          <p:cNvSpPr/>
          <p:nvPr/>
        </p:nvSpPr>
        <p:spPr>
          <a:xfrm>
            <a:off x="1016000" y="1892300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16">
            <a:extLst>
              <a:ext uri="{FF2B5EF4-FFF2-40B4-BE49-F238E27FC236}">
                <a16:creationId xmlns:a16="http://schemas.microsoft.com/office/drawing/2014/main" id="{7436EC4A-F694-FCF4-F5DC-DE056E7DCCC0}"/>
              </a:ext>
            </a:extLst>
          </p:cNvPr>
          <p:cNvSpPr/>
          <p:nvPr/>
        </p:nvSpPr>
        <p:spPr>
          <a:xfrm>
            <a:off x="4508500" y="1878873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6">
            <a:extLst>
              <a:ext uri="{FF2B5EF4-FFF2-40B4-BE49-F238E27FC236}">
                <a16:creationId xmlns:a16="http://schemas.microsoft.com/office/drawing/2014/main" id="{A3C7855F-B426-36E1-64AD-77DF23D59694}"/>
              </a:ext>
            </a:extLst>
          </p:cNvPr>
          <p:cNvSpPr/>
          <p:nvPr/>
        </p:nvSpPr>
        <p:spPr>
          <a:xfrm>
            <a:off x="1143000" y="19177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altLang="zh-CN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Håvard</a:t>
            </a:r>
            <a:endParaRPr lang="en-US" sz="1100" dirty="0"/>
          </a:p>
        </p:txBody>
      </p:sp>
      <p:sp>
        <p:nvSpPr>
          <p:cNvPr id="46" name="AutoShape 6">
            <a:extLst>
              <a:ext uri="{FF2B5EF4-FFF2-40B4-BE49-F238E27FC236}">
                <a16:creationId xmlns:a16="http://schemas.microsoft.com/office/drawing/2014/main" id="{36A6E49D-99A4-76AB-9594-FEDE3AACAC43}"/>
              </a:ext>
            </a:extLst>
          </p:cNvPr>
          <p:cNvSpPr/>
          <p:nvPr/>
        </p:nvSpPr>
        <p:spPr>
          <a:xfrm>
            <a:off x="4572000" y="1911531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05. Hawa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30360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A7840-A2AF-1767-8B7B-A0BCF587D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D38683B6-7C1C-4C66-0931-74CF0D86DDDE}"/>
              </a:ext>
            </a:extLst>
          </p:cNvPr>
          <p:cNvSpPr/>
          <p:nvPr/>
        </p:nvSpPr>
        <p:spPr>
          <a:xfrm>
            <a:off x="1016000" y="12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单词</a:t>
            </a: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96B3087-CE52-34BF-7079-33CBCF533F82}"/>
              </a:ext>
            </a:extLst>
          </p:cNvPr>
          <p:cNvSpPr/>
          <p:nvPr/>
        </p:nvSpPr>
        <p:spPr>
          <a:xfrm>
            <a:off x="4445000" y="398236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89A1B4"/>
                </a:solidFill>
                <a:latin typeface="Noto Sans SC"/>
                <a:ea typeface="Noto Sans SC"/>
                <a:cs typeface="Noto Sans SC"/>
                <a:sym typeface="Noto Sans SC"/>
              </a:rPr>
              <a:t>国家</a:t>
            </a:r>
            <a:r>
              <a:rPr lang="en-US" sz="1800" b="1" i="0" u="none" strike="noStrike" dirty="0">
                <a:solidFill>
                  <a:srgbClr val="89A1B4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b="1" dirty="0">
                <a:solidFill>
                  <a:srgbClr val="89A1B4"/>
                </a:solidFill>
                <a:latin typeface="Noto Sans SC"/>
                <a:ea typeface="Noto Sans SC"/>
                <a:cs typeface="Noto Sans SC"/>
                <a:sym typeface="Noto Sans SC"/>
              </a:rPr>
              <a:t>Country</a:t>
            </a:r>
            <a:endParaRPr lang="en-US" sz="11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322707F-A953-8F19-E692-AEF827F274D3}"/>
              </a:ext>
            </a:extLst>
          </p:cNvPr>
          <p:cNvSpPr/>
          <p:nvPr/>
        </p:nvSpPr>
        <p:spPr>
          <a:xfrm>
            <a:off x="1016000" y="2667000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8C7FCB1-3BF6-1FB7-4A2A-87C88D5837F6}"/>
              </a:ext>
            </a:extLst>
          </p:cNvPr>
          <p:cNvSpPr/>
          <p:nvPr/>
        </p:nvSpPr>
        <p:spPr>
          <a:xfrm>
            <a:off x="1143000" y="26670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Syria – 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叙利亚</a:t>
            </a:r>
            <a:endParaRPr lang="en-US" sz="1100" dirty="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04032E80-4CA6-7652-B43C-E83652D1A116}"/>
              </a:ext>
            </a:extLst>
          </p:cNvPr>
          <p:cNvSpPr/>
          <p:nvPr/>
        </p:nvSpPr>
        <p:spPr>
          <a:xfrm>
            <a:off x="1016000" y="3365500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62C9ABA-CB74-36B4-B4CD-0D4356A4FC8E}"/>
              </a:ext>
            </a:extLst>
          </p:cNvPr>
          <p:cNvSpPr/>
          <p:nvPr/>
        </p:nvSpPr>
        <p:spPr>
          <a:xfrm>
            <a:off x="1143000" y="33655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T</a:t>
            </a:r>
            <a:r>
              <a:rPr lang="en-US" altLang="zh-CN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hailand – 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泰国</a:t>
            </a:r>
            <a:endParaRPr lang="en-US" sz="1100" dirty="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B1963510-04B8-1CA4-2BDF-17F27E38CF51}"/>
              </a:ext>
            </a:extLst>
          </p:cNvPr>
          <p:cNvSpPr/>
          <p:nvPr/>
        </p:nvSpPr>
        <p:spPr>
          <a:xfrm>
            <a:off x="1016000" y="4064000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 dirty="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CA90D4C9-A817-D004-84EA-C852E0CECECD}"/>
              </a:ext>
            </a:extLst>
          </p:cNvPr>
          <p:cNvSpPr/>
          <p:nvPr/>
        </p:nvSpPr>
        <p:spPr>
          <a:xfrm>
            <a:off x="1143000" y="40640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Polen – 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波兰</a:t>
            </a:r>
            <a:endParaRPr lang="en-US" sz="1100" b="1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03402036-E849-0053-C4A8-9FFDF95E20B8}"/>
              </a:ext>
            </a:extLst>
          </p:cNvPr>
          <p:cNvSpPr/>
          <p:nvPr/>
        </p:nvSpPr>
        <p:spPr>
          <a:xfrm>
            <a:off x="1016000" y="4762500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0F57A99F-5628-610E-D041-F6CE892F71C1}"/>
              </a:ext>
            </a:extLst>
          </p:cNvPr>
          <p:cNvSpPr/>
          <p:nvPr/>
        </p:nvSpPr>
        <p:spPr>
          <a:xfrm>
            <a:off x="1143000" y="47625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05. Italia – 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意大利</a:t>
            </a:r>
            <a:endParaRPr lang="en-US" sz="1100" dirty="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EFB92EF2-3966-9860-52F9-FD1C545CE2A9}"/>
              </a:ext>
            </a:extLst>
          </p:cNvPr>
          <p:cNvSpPr/>
          <p:nvPr/>
        </p:nvSpPr>
        <p:spPr>
          <a:xfrm>
            <a:off x="4445000" y="1872343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85EAFFBF-0C15-E29E-5C9A-8C5455C9F84C}"/>
              </a:ext>
            </a:extLst>
          </p:cNvPr>
          <p:cNvSpPr/>
          <p:nvPr/>
        </p:nvSpPr>
        <p:spPr>
          <a:xfrm>
            <a:off x="4508500" y="1856014"/>
            <a:ext cx="304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06. </a:t>
            </a:r>
            <a:r>
              <a:rPr lang="en-US" altLang="zh-CN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Eritrea-</a:t>
            </a:r>
            <a:r>
              <a:rPr lang="zh-CN" altLang="en-US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厄立特里亚（非洲）</a:t>
            </a: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930041CA-8255-39B3-6B71-7C97441457D3}"/>
              </a:ext>
            </a:extLst>
          </p:cNvPr>
          <p:cNvSpPr/>
          <p:nvPr/>
        </p:nvSpPr>
        <p:spPr>
          <a:xfrm>
            <a:off x="4508500" y="3321957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1C8D96B1-4A0B-A2B6-9E0E-CCF1B85986B9}"/>
              </a:ext>
            </a:extLst>
          </p:cNvPr>
          <p:cNvSpPr/>
          <p:nvPr/>
        </p:nvSpPr>
        <p:spPr>
          <a:xfrm>
            <a:off x="4572000" y="3332843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08. </a:t>
            </a:r>
            <a:r>
              <a:rPr lang="en-US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Tyskland – </a:t>
            </a:r>
            <a:r>
              <a:rPr lang="zh-CN" altLang="en-US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德国</a:t>
            </a:r>
            <a:endParaRPr lang="en-US" sz="1100" dirty="0"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42035B19-B0AC-60DD-9C24-75E2B0F61D4A}"/>
              </a:ext>
            </a:extLst>
          </p:cNvPr>
          <p:cNvSpPr/>
          <p:nvPr/>
        </p:nvSpPr>
        <p:spPr>
          <a:xfrm>
            <a:off x="4635500" y="40640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8279F33A-812F-5E11-5EF5-0F58581CC6B4}"/>
              </a:ext>
            </a:extLst>
          </p:cNvPr>
          <p:cNvSpPr/>
          <p:nvPr/>
        </p:nvSpPr>
        <p:spPr>
          <a:xfrm>
            <a:off x="4635500" y="47625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8" name="AutoShape 5">
            <a:extLst>
              <a:ext uri="{FF2B5EF4-FFF2-40B4-BE49-F238E27FC236}">
                <a16:creationId xmlns:a16="http://schemas.microsoft.com/office/drawing/2014/main" id="{2D3B4DAD-ABBE-F8B5-4237-528DDCB704E5}"/>
              </a:ext>
            </a:extLst>
          </p:cNvPr>
          <p:cNvSpPr/>
          <p:nvPr/>
        </p:nvSpPr>
        <p:spPr>
          <a:xfrm>
            <a:off x="1016000" y="1892300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16">
            <a:extLst>
              <a:ext uri="{FF2B5EF4-FFF2-40B4-BE49-F238E27FC236}">
                <a16:creationId xmlns:a16="http://schemas.microsoft.com/office/drawing/2014/main" id="{C343ACA6-0DF4-19A6-D226-802762BB3445}"/>
              </a:ext>
            </a:extLst>
          </p:cNvPr>
          <p:cNvSpPr/>
          <p:nvPr/>
        </p:nvSpPr>
        <p:spPr>
          <a:xfrm>
            <a:off x="4445000" y="2667000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6">
            <a:extLst>
              <a:ext uri="{FF2B5EF4-FFF2-40B4-BE49-F238E27FC236}">
                <a16:creationId xmlns:a16="http://schemas.microsoft.com/office/drawing/2014/main" id="{30624082-CC6B-ED5F-6FD1-C6EA4F70CDB0}"/>
              </a:ext>
            </a:extLst>
          </p:cNvPr>
          <p:cNvSpPr/>
          <p:nvPr/>
        </p:nvSpPr>
        <p:spPr>
          <a:xfrm>
            <a:off x="1143000" y="19177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Norge – 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挪威</a:t>
            </a:r>
            <a:endParaRPr lang="en-US" sz="1100" dirty="0"/>
          </a:p>
        </p:txBody>
      </p:sp>
      <p:sp>
        <p:nvSpPr>
          <p:cNvPr id="46" name="AutoShape 6">
            <a:extLst>
              <a:ext uri="{FF2B5EF4-FFF2-40B4-BE49-F238E27FC236}">
                <a16:creationId xmlns:a16="http://schemas.microsoft.com/office/drawing/2014/main" id="{50DE30BF-079C-271C-F17B-87CCA11E5359}"/>
              </a:ext>
            </a:extLst>
          </p:cNvPr>
          <p:cNvSpPr/>
          <p:nvPr/>
        </p:nvSpPr>
        <p:spPr>
          <a:xfrm>
            <a:off x="4508500" y="2677886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07. Somalia - </a:t>
            </a:r>
            <a:r>
              <a:rPr lang="zh-CN" altLang="en-US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索马里</a:t>
            </a:r>
            <a:r>
              <a:rPr lang="en-US" altLang="zh-CN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zh-CN" altLang="en-US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非洲</a:t>
            </a:r>
            <a:r>
              <a:rPr lang="en-US" altLang="zh-CN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sp>
        <p:nvSpPr>
          <p:cNvPr id="37" name="AutoShape 29">
            <a:extLst>
              <a:ext uri="{FF2B5EF4-FFF2-40B4-BE49-F238E27FC236}">
                <a16:creationId xmlns:a16="http://schemas.microsoft.com/office/drawing/2014/main" id="{B1AF07DA-F986-0217-B2F8-9A4CF7393CE3}"/>
              </a:ext>
            </a:extLst>
          </p:cNvPr>
          <p:cNvSpPr/>
          <p:nvPr/>
        </p:nvSpPr>
        <p:spPr>
          <a:xfrm>
            <a:off x="4508500" y="4042229"/>
            <a:ext cx="3175000" cy="558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/>
                <a:ea typeface="Noto Sans SC"/>
              </a:rPr>
              <a:t> 09. Nederland – </a:t>
            </a:r>
            <a:r>
              <a:rPr lang="zh-CN" altLang="en-US" sz="1600" b="1" dirty="0">
                <a:solidFill>
                  <a:srgbClr val="333333"/>
                </a:solidFill>
                <a:latin typeface="Noto Sans SC"/>
                <a:ea typeface="Noto Sans SC"/>
              </a:rPr>
              <a:t>荷兰</a:t>
            </a:r>
            <a:endParaRPr sz="1600" b="1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3" name="AutoShape 18">
            <a:extLst>
              <a:ext uri="{FF2B5EF4-FFF2-40B4-BE49-F238E27FC236}">
                <a16:creationId xmlns:a16="http://schemas.microsoft.com/office/drawing/2014/main" id="{46B3594D-7167-C372-2E95-B903D8FD47CE}"/>
              </a:ext>
            </a:extLst>
          </p:cNvPr>
          <p:cNvSpPr/>
          <p:nvPr/>
        </p:nvSpPr>
        <p:spPr>
          <a:xfrm>
            <a:off x="4508500" y="4020457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55" name="AutoShape 18">
            <a:extLst>
              <a:ext uri="{FF2B5EF4-FFF2-40B4-BE49-F238E27FC236}">
                <a16:creationId xmlns:a16="http://schemas.microsoft.com/office/drawing/2014/main" id="{DC9138F5-64EB-6396-FD14-57645535646D}"/>
              </a:ext>
            </a:extLst>
          </p:cNvPr>
          <p:cNvSpPr/>
          <p:nvPr/>
        </p:nvSpPr>
        <p:spPr>
          <a:xfrm>
            <a:off x="4445000" y="4762500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r>
              <a:rPr lang="en-US" b="1" dirty="0"/>
              <a:t>10. Frankrike – </a:t>
            </a:r>
            <a:r>
              <a:rPr lang="zh-CN" altLang="en-US" b="1" dirty="0"/>
              <a:t>法国</a:t>
            </a:r>
            <a:endParaRPr b="1" dirty="0"/>
          </a:p>
        </p:txBody>
      </p:sp>
      <p:sp>
        <p:nvSpPr>
          <p:cNvPr id="61" name="AutoShape 18">
            <a:extLst>
              <a:ext uri="{FF2B5EF4-FFF2-40B4-BE49-F238E27FC236}">
                <a16:creationId xmlns:a16="http://schemas.microsoft.com/office/drawing/2014/main" id="{008BA069-B7C2-A501-288D-C02B6EDBB1B1}"/>
              </a:ext>
            </a:extLst>
          </p:cNvPr>
          <p:cNvSpPr/>
          <p:nvPr/>
        </p:nvSpPr>
        <p:spPr>
          <a:xfrm>
            <a:off x="8109494" y="1872343"/>
            <a:ext cx="3175000" cy="558800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defRPr/>
            </a:pPr>
            <a:r>
              <a:rPr lang="en-US" b="1" dirty="0"/>
              <a:t>11. K</a:t>
            </a:r>
            <a:r>
              <a:rPr lang="en-US" altLang="zh-CN" b="1" dirty="0"/>
              <a:t>ina – </a:t>
            </a:r>
            <a:r>
              <a:rPr lang="zh-CN" altLang="en-US" b="1" dirty="0"/>
              <a:t>中国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008789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7FCE7-97C0-0C65-E755-D7CE362D3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F08BF3-6491-4697-642F-C713BDCD7D23}"/>
              </a:ext>
            </a:extLst>
          </p:cNvPr>
          <p:cNvSpPr txBox="1"/>
          <p:nvPr/>
        </p:nvSpPr>
        <p:spPr>
          <a:xfrm>
            <a:off x="2168434" y="2416693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Ordliste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CED7D98-EEAF-29C9-2E3B-F9FDDA821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376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BDC51-462C-5BFC-86B3-F83ECA37C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C6C3D02-1CD3-7ADD-5972-3F1F4EFDA424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词汇表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15F9ACC-223A-AA5F-8A3D-D65304BFC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596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9278C-ACD9-367A-E6BB-1CAE391C2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3A807E5-4235-5E24-D79E-3A43393DB393}"/>
              </a:ext>
            </a:extLst>
          </p:cNvPr>
          <p:cNvSpPr txBox="1"/>
          <p:nvPr/>
        </p:nvSpPr>
        <p:spPr>
          <a:xfrm>
            <a:off x="2168434" y="2416693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God morgen 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1EB6969-01F2-1D63-3476-3D0483BD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56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97D92-4189-F436-42CB-B23CE37F6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24D2884-A283-94C2-AB87-DF664F2C2FB0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早上好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7D16033-6C2D-AAA5-B9AD-FAE1EEC69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4655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FB5F5-E808-73C6-56FF-C4B69583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E02F1ED-6C86-440F-00E8-214EF9F96971}"/>
              </a:ext>
            </a:extLst>
          </p:cNvPr>
          <p:cNvSpPr txBox="1"/>
          <p:nvPr/>
        </p:nvSpPr>
        <p:spPr>
          <a:xfrm>
            <a:off x="239486" y="2416693"/>
            <a:ext cx="11435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6600" b="1" dirty="0">
                <a:solidFill>
                  <a:srgbClr val="333333"/>
                </a:solidFill>
                <a:latin typeface="Noto Sans SC"/>
                <a:ea typeface="Noto Sans SC"/>
                <a:sym typeface="+mn-lt"/>
              </a:rPr>
              <a:t>Velkommen</a:t>
            </a:r>
            <a:r>
              <a:rPr lang="nb-NO" altLang="zh-CN" sz="6600" b="1" dirty="0">
                <a:solidFill>
                  <a:schemeClr val="accent1"/>
                </a:solidFill>
                <a:cs typeface="+mn-ea"/>
                <a:sym typeface="+mn-lt"/>
              </a:rPr>
              <a:t> </a:t>
            </a:r>
            <a:r>
              <a:rPr lang="nb-NO" altLang="zh-CN" sz="6600" b="1" dirty="0">
                <a:solidFill>
                  <a:srgbClr val="333333"/>
                </a:solidFill>
                <a:latin typeface="Noto Sans SC"/>
                <a:ea typeface="Noto Sans SC"/>
                <a:sym typeface="+mn-lt"/>
              </a:rPr>
              <a:t>til norskkurs</a:t>
            </a:r>
            <a:endParaRPr lang="zh-CN" altLang="en-US" sz="6600" b="1" dirty="0">
              <a:solidFill>
                <a:srgbClr val="333333"/>
              </a:solidFill>
              <a:latin typeface="Noto Sans SC"/>
              <a:ea typeface="Noto Sans SC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1FB7217-CF4E-6E09-D677-BD102D179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26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17A50-2750-BFF0-B2AA-8FF59B72F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3CE8ADE-BA79-1265-E746-CA05A072230E}"/>
              </a:ext>
            </a:extLst>
          </p:cNvPr>
          <p:cNvSpPr txBox="1"/>
          <p:nvPr/>
        </p:nvSpPr>
        <p:spPr>
          <a:xfrm>
            <a:off x="1522912" y="2514665"/>
            <a:ext cx="94553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欢迎来到挪威语课堂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175CC0-E8AA-76DD-00EA-901861B34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142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2ED7B-0DC2-3B27-FCAE-E624494CE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93B9085-F900-18F8-B389-2ECE17D3DD40}"/>
              </a:ext>
            </a:extLst>
          </p:cNvPr>
          <p:cNvSpPr txBox="1"/>
          <p:nvPr/>
        </p:nvSpPr>
        <p:spPr>
          <a:xfrm>
            <a:off x="2168434" y="2416693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Jeg </a:t>
            </a:r>
            <a:r>
              <a:rPr lang="en-US" altLang="zh-CN" sz="80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heter</a:t>
            </a:r>
            <a:r>
              <a:rPr lang="en-US" altLang="zh-CN" sz="80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...</a:t>
            </a:r>
            <a:endParaRPr lang="zh-CN" altLang="en-US" sz="36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B69BC90-4B23-3233-1641-A15966DDF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1211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43030-95ED-EC88-9BD6-0AAC5652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EE9836A-F6EE-C2C0-7E79-4400CAA0F648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我叫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…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B5914B3-FAF1-32D0-4B5C-27130211F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588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DD732-5A5F-9BD1-83F9-5B1160BC9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98BAD3C-C44F-A685-6298-37B9163F3838}"/>
              </a:ext>
            </a:extLst>
          </p:cNvPr>
          <p:cNvSpPr txBox="1"/>
          <p:nvPr/>
        </p:nvSpPr>
        <p:spPr>
          <a:xfrm>
            <a:off x="1451610" y="2296950"/>
            <a:ext cx="92887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Jeg kommer fra...</a:t>
            </a:r>
            <a:endParaRPr lang="zh-CN" altLang="en-US" sz="36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BC04DE6-71B2-C71F-5791-E9C7A6CD2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42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286CF-0BC9-CCC3-326A-0CF66E42F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2F52DB6-18D5-5A91-1F5F-C7C346189A3B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我来自</a:t>
            </a:r>
            <a:r>
              <a:rPr lang="en-US" altLang="zh-CN" sz="8000" b="1" dirty="0">
                <a:cs typeface="+mn-ea"/>
                <a:sym typeface="+mn-lt"/>
              </a:rPr>
              <a:t>…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FACF004-5F44-9851-07E2-07191258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693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001F4-877E-ABD2-4F1C-2DB3AE488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ED5C3D3-3316-3A4D-5D2B-7B28E81D68E8}"/>
              </a:ext>
            </a:extLst>
          </p:cNvPr>
          <p:cNvSpPr txBox="1"/>
          <p:nvPr/>
        </p:nvSpPr>
        <p:spPr>
          <a:xfrm>
            <a:off x="2168434" y="2416693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og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B9E5132-D732-54EA-CE48-B7602325F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461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7531B-2864-2F35-7115-F2A7BE834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5B93DC2-67E1-0FDE-DC36-1CFB696E7294}"/>
              </a:ext>
            </a:extLst>
          </p:cNvPr>
          <p:cNvSpPr txBox="1"/>
          <p:nvPr/>
        </p:nvSpPr>
        <p:spPr>
          <a:xfrm>
            <a:off x="2412274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和，并且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AD50D75-93EE-E319-C0AF-7CEF75D25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1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EE566-B6D3-0117-27F3-45993B87B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079C702-6C7D-FE0D-23E6-73A005DC18AF}"/>
              </a:ext>
            </a:extLst>
          </p:cNvPr>
          <p:cNvSpPr txBox="1"/>
          <p:nvPr/>
        </p:nvSpPr>
        <p:spPr>
          <a:xfrm>
            <a:off x="2447109" y="2487818"/>
            <a:ext cx="60663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语法</a:t>
            </a:r>
          </a:p>
        </p:txBody>
      </p:sp>
    </p:spTree>
    <p:extLst>
      <p:ext uri="{BB962C8B-B14F-4D97-AF65-F5344CB8AC3E}">
        <p14:creationId xmlns:p14="http://schemas.microsoft.com/office/powerpoint/2010/main" val="410881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fade thruBlk="1"/>
      </p:transition>
    </mc:Choice>
    <mc:Fallback xmlns="">
      <p:transition spd="slow" advTm="3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7B058-E773-A739-3052-73996C669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1E0A1-F5C2-4B91-3FA8-0CE5808A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E0D9088-693E-0BA7-6544-8C8237A2BB1C}"/>
              </a:ext>
            </a:extLst>
          </p:cNvPr>
          <p:cNvSpPr txBox="1">
            <a:spLocks/>
          </p:cNvSpPr>
          <p:nvPr/>
        </p:nvSpPr>
        <p:spPr>
          <a:xfrm>
            <a:off x="1128952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zh-CN" altLang="en-US" dirty="0"/>
              <a:t>人称代词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DE18B41-97D9-778F-4FA3-531124810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94229"/>
              </p:ext>
            </p:extLst>
          </p:nvPr>
        </p:nvGraphicFramePr>
        <p:xfrm>
          <a:off x="1849845" y="1292953"/>
          <a:ext cx="6701972" cy="4272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26805">
                  <a:extLst>
                    <a:ext uri="{9D8B030D-6E8A-4147-A177-3AD203B41FA5}">
                      <a16:colId xmlns:a16="http://schemas.microsoft.com/office/drawing/2014/main" val="1577467806"/>
                    </a:ext>
                  </a:extLst>
                </a:gridCol>
                <a:gridCol w="2875167">
                  <a:extLst>
                    <a:ext uri="{9D8B030D-6E8A-4147-A177-3AD203B41FA5}">
                      <a16:colId xmlns:a16="http://schemas.microsoft.com/office/drawing/2014/main" val="1563983134"/>
                    </a:ext>
                  </a:extLst>
                </a:gridCol>
              </a:tblGrid>
              <a:tr h="6539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>
                          <a:effectLst/>
                        </a:rPr>
                        <a:t>中文</a:t>
                      </a:r>
                      <a:endParaRPr 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>
                          <a:effectLst/>
                        </a:rPr>
                        <a:t>主格 (subjekt)</a:t>
                      </a:r>
                      <a:endParaRPr 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42785212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 dirty="0">
                          <a:effectLst/>
                        </a:rPr>
                        <a:t>我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 dirty="0">
                          <a:effectLst/>
                        </a:rPr>
                        <a:t>jeg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56204123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 dirty="0">
                          <a:effectLst/>
                        </a:rPr>
                        <a:t>你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 dirty="0">
                          <a:effectLst/>
                        </a:rPr>
                        <a:t>du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424830950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>
                          <a:effectLst/>
                        </a:rPr>
                        <a:t>他</a:t>
                      </a:r>
                      <a:endParaRPr 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 dirty="0">
                          <a:effectLst/>
                        </a:rPr>
                        <a:t>han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37554856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>
                          <a:effectLst/>
                        </a:rPr>
                        <a:t>她</a:t>
                      </a:r>
                      <a:endParaRPr 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 dirty="0">
                          <a:effectLst/>
                        </a:rPr>
                        <a:t>hun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8945089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 dirty="0">
                          <a:effectLst/>
                        </a:rPr>
                        <a:t>它（中性）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 dirty="0">
                          <a:effectLst/>
                        </a:rPr>
                        <a:t>det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05952678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 dirty="0">
                          <a:effectLst/>
                        </a:rPr>
                        <a:t>它（</a:t>
                      </a:r>
                      <a:r>
                        <a:rPr lang="zh-CN" altLang="zh-CN" sz="2400" dirty="0"/>
                        <a:t>通性</a:t>
                      </a:r>
                      <a:r>
                        <a:rPr lang="en-US" altLang="zh-CN" sz="2400" dirty="0"/>
                        <a:t>=</a:t>
                      </a:r>
                      <a:r>
                        <a:rPr lang="zh-CN" altLang="en-US" sz="2400" u="none" strike="noStrike" dirty="0">
                          <a:effectLst/>
                        </a:rPr>
                        <a:t>阴性</a:t>
                      </a:r>
                      <a:r>
                        <a:rPr lang="en-US" altLang="zh-CN" sz="2400" u="none" strike="noStrike" dirty="0">
                          <a:effectLst/>
                        </a:rPr>
                        <a:t>/</a:t>
                      </a:r>
                      <a:r>
                        <a:rPr lang="zh-CN" altLang="en-US" sz="2400" u="none" strike="noStrike" dirty="0">
                          <a:effectLst/>
                        </a:rPr>
                        <a:t>阳性</a:t>
                      </a:r>
                      <a:r>
                        <a:rPr lang="zh-CN" sz="2400" u="none" strike="noStrike" dirty="0">
                          <a:effectLst/>
                        </a:rPr>
                        <a:t>）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 dirty="0">
                          <a:effectLst/>
                        </a:rPr>
                        <a:t>den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04079817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>
                          <a:effectLst/>
                        </a:rPr>
                        <a:t>我们</a:t>
                      </a:r>
                      <a:endParaRPr 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 dirty="0">
                          <a:effectLst/>
                        </a:rPr>
                        <a:t>vi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514496155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>
                          <a:effectLst/>
                        </a:rPr>
                        <a:t>你们</a:t>
                      </a:r>
                      <a:endParaRPr 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 dirty="0">
                          <a:effectLst/>
                        </a:rPr>
                        <a:t>dere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3265472"/>
                  </a:ext>
                </a:extLst>
              </a:tr>
              <a:tr h="6539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>
                          <a:effectLst/>
                        </a:rPr>
                        <a:t>他们 / 她们 / 它们</a:t>
                      </a:r>
                      <a:endParaRPr lang="zh-CN" sz="2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400" u="none" strike="noStrike" dirty="0">
                          <a:effectLst/>
                        </a:rPr>
                        <a:t>de</a:t>
                      </a:r>
                      <a:endParaRPr 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27863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473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9F229-FA8A-47DE-3200-8D696663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2DC027-B280-1366-886A-706CA384B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4B1FC0C1-A2ED-3F85-BEEA-B8528B8FD59F}"/>
              </a:ext>
            </a:extLst>
          </p:cNvPr>
          <p:cNvSpPr txBox="1">
            <a:spLocks/>
          </p:cNvSpPr>
          <p:nvPr/>
        </p:nvSpPr>
        <p:spPr>
          <a:xfrm>
            <a:off x="1128952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zh-CN" altLang="en-US" dirty="0"/>
              <a:t>人称代词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324C7B6-BDD1-E4E0-37A3-61EB223E2B06}"/>
              </a:ext>
            </a:extLst>
          </p:cNvPr>
          <p:cNvGraphicFramePr>
            <a:graphicFrameLocks noGrp="1"/>
          </p:cNvGraphicFramePr>
          <p:nvPr/>
        </p:nvGraphicFramePr>
        <p:xfrm>
          <a:off x="613228" y="1178323"/>
          <a:ext cx="10481493" cy="3944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3951">
                  <a:extLst>
                    <a:ext uri="{9D8B030D-6E8A-4147-A177-3AD203B41FA5}">
                      <a16:colId xmlns:a16="http://schemas.microsoft.com/office/drawing/2014/main" val="1577467806"/>
                    </a:ext>
                  </a:extLst>
                </a:gridCol>
                <a:gridCol w="1888789">
                  <a:extLst>
                    <a:ext uri="{9D8B030D-6E8A-4147-A177-3AD203B41FA5}">
                      <a16:colId xmlns:a16="http://schemas.microsoft.com/office/drawing/2014/main" val="1563983134"/>
                    </a:ext>
                  </a:extLst>
                </a:gridCol>
                <a:gridCol w="2066777">
                  <a:extLst>
                    <a:ext uri="{9D8B030D-6E8A-4147-A177-3AD203B41FA5}">
                      <a16:colId xmlns:a16="http://schemas.microsoft.com/office/drawing/2014/main" val="2535996634"/>
                    </a:ext>
                  </a:extLst>
                </a:gridCol>
                <a:gridCol w="4011976">
                  <a:extLst>
                    <a:ext uri="{9D8B030D-6E8A-4147-A177-3AD203B41FA5}">
                      <a16:colId xmlns:a16="http://schemas.microsoft.com/office/drawing/2014/main" val="3212252268"/>
                    </a:ext>
                  </a:extLst>
                </a:gridCol>
              </a:tblGrid>
              <a:tr h="6539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中文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主格 (subjekt)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宾格 (objekt)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物主代词（后面加名词）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42785212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我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jeg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meg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min /mitt /mine 我的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56204123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你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du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deg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din /ditt /dine 你的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424830950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他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han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ham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hans 他的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37554856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她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hun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henne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hennes 她的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8945089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它（中性）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det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det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dets 它的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05952678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它（</a:t>
                      </a:r>
                      <a:r>
                        <a:rPr lang="zh-CN" altLang="zh-CN" sz="2000" dirty="0"/>
                        <a:t>通性</a:t>
                      </a:r>
                      <a:r>
                        <a:rPr lang="en-US" altLang="zh-CN" sz="2000" dirty="0"/>
                        <a:t>=</a:t>
                      </a:r>
                      <a:r>
                        <a:rPr lang="zh-CN" altLang="en-US" sz="2000" u="none" strike="noStrike" dirty="0">
                          <a:effectLst/>
                        </a:rPr>
                        <a:t>阴性</a:t>
                      </a:r>
                      <a:r>
                        <a:rPr lang="en-US" altLang="zh-CN" sz="2000" u="none" strike="noStrike" dirty="0">
                          <a:effectLst/>
                        </a:rPr>
                        <a:t>/</a:t>
                      </a:r>
                      <a:r>
                        <a:rPr lang="zh-CN" altLang="en-US" sz="2000" u="none" strike="noStrike" dirty="0">
                          <a:effectLst/>
                        </a:rPr>
                        <a:t>阳性</a:t>
                      </a:r>
                      <a:r>
                        <a:rPr lang="zh-CN" sz="2000" u="none" strike="noStrike" dirty="0">
                          <a:effectLst/>
                        </a:rPr>
                        <a:t>）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den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den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dens 它的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04079817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我们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vi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oss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vår/vårt /våre 我们的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514496155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你们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dere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dere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deres 你们的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3265472"/>
                  </a:ext>
                </a:extLst>
              </a:tr>
              <a:tr h="6539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他们 / 她们 / 它们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dem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deres 他们的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27863820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C3914CF7-24FB-6EE4-FB05-F392A100B85D}"/>
              </a:ext>
            </a:extLst>
          </p:cNvPr>
          <p:cNvSpPr txBox="1"/>
          <p:nvPr/>
        </p:nvSpPr>
        <p:spPr>
          <a:xfrm>
            <a:off x="6992657" y="5349880"/>
            <a:ext cx="40320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zh-CN" altLang="zh-CN" b="1" dirty="0">
                <a:effectLst/>
              </a:rPr>
              <a:t>通性单数名词</a:t>
            </a:r>
            <a:r>
              <a:rPr lang="zh-CN" altLang="zh-CN" dirty="0">
                <a:effectLst/>
              </a:rPr>
              <a:t> → min / din / vår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b="1" dirty="0">
                <a:effectLst/>
              </a:rPr>
              <a:t>中性单数名词</a:t>
            </a:r>
            <a:r>
              <a:rPr lang="zh-CN" altLang="zh-CN" dirty="0">
                <a:effectLst/>
              </a:rPr>
              <a:t> → mitt / ditt / vårt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b="1" dirty="0">
                <a:effectLst/>
              </a:rPr>
              <a:t>复数名词</a:t>
            </a:r>
            <a:r>
              <a:rPr lang="zh-CN" altLang="zh-CN" dirty="0">
                <a:effectLst/>
              </a:rPr>
              <a:t> → mine / dine / våre</a:t>
            </a:r>
          </a:p>
        </p:txBody>
      </p:sp>
    </p:spTree>
    <p:extLst>
      <p:ext uri="{BB962C8B-B14F-4D97-AF65-F5344CB8AC3E}">
        <p14:creationId xmlns:p14="http://schemas.microsoft.com/office/powerpoint/2010/main" val="3100068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4E625-DE0C-3E8C-1788-3F06124B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C5C7A-1D4A-6510-4FB7-3B1AAA186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疑问词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D579C366-7FCE-CC32-B1B4-993E228193D8}"/>
              </a:ext>
            </a:extLst>
          </p:cNvPr>
          <p:cNvSpPr/>
          <p:nvPr/>
        </p:nvSpPr>
        <p:spPr>
          <a:xfrm>
            <a:off x="1412755" y="1535702"/>
            <a:ext cx="3175000" cy="709023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zh-CN" sz="2800" b="1" dirty="0"/>
              <a:t>1. Hvem (谁)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F14AC353-F9F5-7DBD-95A7-FEE2B67C9375}"/>
              </a:ext>
            </a:extLst>
          </p:cNvPr>
          <p:cNvSpPr/>
          <p:nvPr/>
        </p:nvSpPr>
        <p:spPr>
          <a:xfrm>
            <a:off x="1412755" y="2719976"/>
            <a:ext cx="3175000" cy="709023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nb-NO" altLang="zh-CN" sz="2800" b="1" dirty="0"/>
              <a:t>2. Hva (</a:t>
            </a:r>
            <a:r>
              <a:rPr lang="zh-CN" altLang="en-US" sz="2800" b="1" dirty="0"/>
              <a:t>什么</a:t>
            </a:r>
            <a:r>
              <a:rPr lang="en-US" altLang="zh-CN" sz="2800" b="1" dirty="0"/>
              <a:t>)</a:t>
            </a:r>
            <a:endParaRPr lang="zh-CN" altLang="zh-CN" sz="2800" b="1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B6BCEE94-2146-DBDF-9078-D4B356F14858}"/>
              </a:ext>
            </a:extLst>
          </p:cNvPr>
          <p:cNvSpPr/>
          <p:nvPr/>
        </p:nvSpPr>
        <p:spPr>
          <a:xfrm>
            <a:off x="1412755" y="3904249"/>
            <a:ext cx="3175000" cy="709023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da-DK" altLang="zh-CN" sz="2800" b="1" dirty="0"/>
              <a:t>3. Hvor (</a:t>
            </a:r>
            <a:r>
              <a:rPr lang="zh-CN" altLang="da-DK" sz="2800" b="1" dirty="0"/>
              <a:t>哪里</a:t>
            </a:r>
            <a:r>
              <a:rPr lang="en-US" altLang="zh-CN" sz="2800" b="1" dirty="0"/>
              <a:t>)</a:t>
            </a:r>
            <a:endParaRPr lang="zh-CN" altLang="zh-CN" sz="2800" b="1" dirty="0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C6BC37C9-D0B3-72F1-8488-59662EDEAF67}"/>
              </a:ext>
            </a:extLst>
          </p:cNvPr>
          <p:cNvSpPr/>
          <p:nvPr/>
        </p:nvSpPr>
        <p:spPr>
          <a:xfrm>
            <a:off x="5527555" y="1535702"/>
            <a:ext cx="3175000" cy="709023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nb-NO" altLang="zh-CN" sz="2800" b="1" dirty="0"/>
              <a:t>4. Hvorfor (</a:t>
            </a:r>
            <a:r>
              <a:rPr lang="zh-CN" altLang="en-US" sz="2800" b="1" dirty="0"/>
              <a:t>为什么</a:t>
            </a:r>
            <a:r>
              <a:rPr lang="en-US" altLang="zh-CN" sz="2800" b="1" dirty="0"/>
              <a:t>)</a:t>
            </a:r>
            <a:endParaRPr lang="zh-CN" altLang="zh-CN" sz="2800" b="1" dirty="0"/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7BD4D03D-5FA3-1BBC-C890-D9AC9C8A513E}"/>
              </a:ext>
            </a:extLst>
          </p:cNvPr>
          <p:cNvSpPr/>
          <p:nvPr/>
        </p:nvSpPr>
        <p:spPr>
          <a:xfrm>
            <a:off x="5527555" y="2719976"/>
            <a:ext cx="3175000" cy="709023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nb-NO" altLang="zh-CN" sz="2800" b="1" dirty="0"/>
              <a:t>5. Hvordan (</a:t>
            </a:r>
            <a:r>
              <a:rPr lang="zh-CN" altLang="en-US" sz="2800" b="1" dirty="0"/>
              <a:t>怎么样 </a:t>
            </a:r>
            <a:r>
              <a:rPr lang="en-US" altLang="zh-CN" sz="2800" b="1" dirty="0"/>
              <a:t>)</a:t>
            </a:r>
            <a:endParaRPr lang="zh-CN" altLang="zh-CN" sz="2800" b="1" dirty="0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9D7FE7D9-7485-5A9B-8F41-DC5B57B193FE}"/>
              </a:ext>
            </a:extLst>
          </p:cNvPr>
          <p:cNvSpPr/>
          <p:nvPr/>
        </p:nvSpPr>
        <p:spPr>
          <a:xfrm>
            <a:off x="5527555" y="3904250"/>
            <a:ext cx="3175000" cy="709023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nb-NO" altLang="zh-CN" sz="2800" b="1" dirty="0"/>
              <a:t>6. Når (</a:t>
            </a:r>
            <a:r>
              <a:rPr lang="zh-CN" altLang="en-US" sz="2800" b="1" dirty="0"/>
              <a:t>什么时候</a:t>
            </a:r>
            <a:r>
              <a:rPr lang="en-US" altLang="zh-CN" sz="2800" b="1" dirty="0"/>
              <a:t>)</a:t>
            </a:r>
            <a:endParaRPr lang="zh-CN" altLang="zh-CN" sz="2800" b="1" dirty="0"/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9C056188-903B-83B3-98C1-CE3F9A72EEB4}"/>
              </a:ext>
            </a:extLst>
          </p:cNvPr>
          <p:cNvSpPr/>
          <p:nvPr/>
        </p:nvSpPr>
        <p:spPr>
          <a:xfrm>
            <a:off x="1412755" y="5150666"/>
            <a:ext cx="7289800" cy="709023"/>
          </a:xfrm>
          <a:prstGeom prst="roundRect">
            <a:avLst>
              <a:gd name="adj" fmla="val 0"/>
            </a:avLst>
          </a:prstGeom>
          <a:solidFill>
            <a:srgbClr val="89A1B4">
              <a:alpha val="10000"/>
            </a:srgbClr>
          </a:solidFill>
          <a:ln cap="flat" cmpd="sng">
            <a:solidFill>
              <a:srgbClr val="6683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da-DK" altLang="zh-CN" sz="2800" b="1" dirty="0"/>
              <a:t>7. Hvilken / Hvilket / Hvilke (</a:t>
            </a:r>
            <a:r>
              <a:rPr lang="zh-CN" altLang="en-US" sz="2800" b="1" dirty="0"/>
              <a:t>哪个 </a:t>
            </a:r>
            <a:r>
              <a:rPr lang="en-US" altLang="zh-CN" sz="2800" b="1" dirty="0"/>
              <a:t>/ </a:t>
            </a:r>
            <a:r>
              <a:rPr lang="zh-CN" altLang="en-US" sz="2800" b="1" dirty="0"/>
              <a:t>哪些</a:t>
            </a:r>
            <a:r>
              <a:rPr lang="en-US" altLang="zh-CN" sz="2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234168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eelOff"/>
      </p:transition>
    </mc:Choice>
    <mc:Fallback xmlns="">
      <p:transition spd="slow" advTm="3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71B8-D80C-10E5-87E8-59EAD7AB7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BE8F7B-5903-5490-CA04-8D8B3E158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EE3B79-BF0F-19A2-AAC1-042E2BF66458}"/>
              </a:ext>
            </a:extLst>
          </p:cNvPr>
          <p:cNvSpPr txBox="1"/>
          <p:nvPr/>
        </p:nvSpPr>
        <p:spPr>
          <a:xfrm>
            <a:off x="1463040" y="1864587"/>
            <a:ext cx="926592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600" b="1" dirty="0"/>
              <a:t>1. Hvem (谁)</a:t>
            </a:r>
            <a:r>
              <a:rPr lang="en-US" altLang="zh-CN" sz="3600" b="1" dirty="0"/>
              <a:t> - </a:t>
            </a:r>
            <a:r>
              <a:rPr lang="zh-CN" altLang="zh-CN" sz="3600" dirty="0"/>
              <a:t>询问人物</a:t>
            </a:r>
            <a:endParaRPr lang="en-US" altLang="zh-CN" sz="3600" dirty="0"/>
          </a:p>
          <a:p>
            <a:endParaRPr lang="zh-CN" altLang="zh-CN" sz="3600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zh-CN" altLang="zh-CN" sz="3600" b="1" dirty="0"/>
              <a:t>Hvem er du?</a:t>
            </a:r>
            <a:r>
              <a:rPr lang="zh-CN" altLang="zh-CN" sz="3600" dirty="0"/>
              <a:t> (你是谁？)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zh-CN" altLang="zh-CN" sz="3600" b="1" dirty="0"/>
              <a:t>Hvem bor i dette huset?</a:t>
            </a:r>
            <a:r>
              <a:rPr lang="zh-CN" altLang="zh-CN" sz="3600" dirty="0"/>
              <a:t> (谁住在这</a:t>
            </a:r>
            <a:r>
              <a:rPr lang="zh-CN" altLang="en-US" sz="3600" dirty="0"/>
              <a:t>个</a:t>
            </a:r>
            <a:r>
              <a:rPr lang="zh-CN" altLang="zh-CN" sz="3600" dirty="0"/>
              <a:t>房子里？)</a:t>
            </a:r>
          </a:p>
          <a:p>
            <a:endParaRPr lang="zh-CN" altLang="en-US" sz="3600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5605BB2F-F168-9DB3-D157-E1AB68F35E3B}"/>
              </a:ext>
            </a:extLst>
          </p:cNvPr>
          <p:cNvSpPr txBox="1">
            <a:spLocks/>
          </p:cNvSpPr>
          <p:nvPr/>
        </p:nvSpPr>
        <p:spPr>
          <a:xfrm>
            <a:off x="1046221" y="331827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zh-CN" altLang="en-US"/>
              <a:t>疑问词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9203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3BB75-1214-1AF7-438B-709C976F8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25EEC-E1D3-807D-BE1E-FED8255F8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3665EF8-C694-6170-5428-63DE95ADA3D0}"/>
              </a:ext>
            </a:extLst>
          </p:cNvPr>
          <p:cNvSpPr txBox="1"/>
          <p:nvPr/>
        </p:nvSpPr>
        <p:spPr>
          <a:xfrm>
            <a:off x="1463040" y="1864587"/>
            <a:ext cx="926592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altLang="zh-CN" sz="3600" b="1" dirty="0"/>
              <a:t>2. Hva (</a:t>
            </a:r>
            <a:r>
              <a:rPr lang="zh-CN" altLang="en-US" sz="3600" b="1" dirty="0"/>
              <a:t>什么</a:t>
            </a:r>
            <a:r>
              <a:rPr lang="en-US" altLang="zh-CN" sz="3600" b="1" dirty="0"/>
              <a:t>) - </a:t>
            </a:r>
            <a:r>
              <a:rPr lang="zh-CN" altLang="en-US" sz="3600" b="1" dirty="0"/>
              <a:t>询问事物或事情</a:t>
            </a:r>
            <a:endParaRPr lang="en-US" altLang="zh-CN" sz="3600" b="1" dirty="0"/>
          </a:p>
          <a:p>
            <a:endParaRPr lang="zh-CN" altLang="en-US" sz="36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3600" b="1" dirty="0"/>
              <a:t>Hva heter du? (</a:t>
            </a:r>
            <a:r>
              <a:rPr lang="zh-CN" altLang="en-US" sz="3600" b="1" dirty="0"/>
              <a:t>你叫什么名字？</a:t>
            </a:r>
            <a:r>
              <a:rPr lang="en-US" altLang="zh-CN" sz="3600" b="1"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3600" b="1" dirty="0"/>
              <a:t>Hva spiser du til middag? (</a:t>
            </a:r>
            <a:r>
              <a:rPr lang="zh-CN" altLang="en-US" sz="3600" b="1" dirty="0"/>
              <a:t>你晚饭吃什么？</a:t>
            </a:r>
            <a:r>
              <a:rPr lang="en-US" altLang="zh-CN" sz="3600" b="1" dirty="0"/>
              <a:t>)</a:t>
            </a:r>
          </a:p>
          <a:p>
            <a:endParaRPr lang="zh-CN" altLang="en-US" sz="3600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BE7E4F37-8E9B-CDCB-BA5E-0CCEFF2328BB}"/>
              </a:ext>
            </a:extLst>
          </p:cNvPr>
          <p:cNvSpPr txBox="1">
            <a:spLocks/>
          </p:cNvSpPr>
          <p:nvPr/>
        </p:nvSpPr>
        <p:spPr>
          <a:xfrm>
            <a:off x="1046221" y="331827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zh-CN" altLang="en-US"/>
              <a:t>疑问词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335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4E3DA-123C-BE61-99E2-96FD3474A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11CB0-A609-F88F-76CC-1B14A918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A4A158-B75D-272B-331E-4CF4CD114777}"/>
              </a:ext>
            </a:extLst>
          </p:cNvPr>
          <p:cNvSpPr txBox="1"/>
          <p:nvPr/>
        </p:nvSpPr>
        <p:spPr>
          <a:xfrm>
            <a:off x="1463040" y="1864587"/>
            <a:ext cx="926592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altLang="zh-CN" sz="3600" b="1" dirty="0"/>
              <a:t>3. Hvor (</a:t>
            </a:r>
            <a:r>
              <a:rPr lang="zh-CN" altLang="en-US" sz="3600" b="1" dirty="0"/>
              <a:t>在哪里 </a:t>
            </a:r>
            <a:r>
              <a:rPr lang="en-US" altLang="zh-CN" sz="3600" b="1" dirty="0"/>
              <a:t>/ </a:t>
            </a:r>
            <a:r>
              <a:rPr lang="zh-CN" altLang="en-US" sz="3600" b="1" dirty="0"/>
              <a:t>去哪儿</a:t>
            </a:r>
            <a:r>
              <a:rPr lang="en-US" altLang="zh-CN" sz="3600" b="1" dirty="0"/>
              <a:t>) - </a:t>
            </a:r>
            <a:r>
              <a:rPr lang="zh-CN" altLang="en-US" sz="3600" b="1" dirty="0"/>
              <a:t>询问地点或方位</a:t>
            </a:r>
            <a:endParaRPr lang="en-US" altLang="zh-CN" sz="3600" b="1" dirty="0"/>
          </a:p>
          <a:p>
            <a:endParaRPr lang="zh-CN" altLang="en-US" sz="36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3600" b="1" dirty="0"/>
              <a:t>Hvor er toalettet? (</a:t>
            </a:r>
            <a:r>
              <a:rPr lang="zh-CN" altLang="en-US" sz="3600" b="1" dirty="0"/>
              <a:t>洗手间在哪里？</a:t>
            </a:r>
            <a:r>
              <a:rPr lang="en-US" altLang="zh-CN" sz="3600" b="1"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3600" b="1" dirty="0"/>
              <a:t>Hvor skal vi nå? (</a:t>
            </a:r>
            <a:r>
              <a:rPr lang="zh-CN" altLang="en-US" sz="3600" b="1" dirty="0"/>
              <a:t>我们现在要去哪里？</a:t>
            </a:r>
            <a:r>
              <a:rPr lang="en-US" altLang="zh-CN" sz="3600" b="1" dirty="0"/>
              <a:t>)</a:t>
            </a:r>
          </a:p>
          <a:p>
            <a:endParaRPr lang="zh-CN" altLang="en-US" sz="3600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6EAF458A-249A-A980-B4F1-DDE34CB901DD}"/>
              </a:ext>
            </a:extLst>
          </p:cNvPr>
          <p:cNvSpPr txBox="1">
            <a:spLocks/>
          </p:cNvSpPr>
          <p:nvPr/>
        </p:nvSpPr>
        <p:spPr>
          <a:xfrm>
            <a:off x="1046221" y="331827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zh-CN" altLang="en-US"/>
              <a:t>疑问词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824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BBE9E-BCE9-ABDB-F9E1-AB85E6705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B3E3C-1D39-801E-C1B6-7F78C6F20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EAD0DF-E365-9272-3055-767B4B997879}"/>
              </a:ext>
            </a:extLst>
          </p:cNvPr>
          <p:cNvSpPr txBox="1"/>
          <p:nvPr/>
        </p:nvSpPr>
        <p:spPr>
          <a:xfrm>
            <a:off x="840377" y="1997839"/>
            <a:ext cx="1051124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altLang="zh-CN" sz="3600" b="1" dirty="0"/>
              <a:t>4. Hvorfor (</a:t>
            </a:r>
            <a:r>
              <a:rPr lang="zh-CN" altLang="en-US" sz="3600" b="1" dirty="0"/>
              <a:t>为什么</a:t>
            </a:r>
            <a:r>
              <a:rPr lang="en-US" altLang="zh-CN" sz="3600" b="1" dirty="0"/>
              <a:t>) - </a:t>
            </a:r>
            <a:r>
              <a:rPr lang="zh-CN" altLang="en-US" sz="3600" b="1" dirty="0"/>
              <a:t>询问原因</a:t>
            </a:r>
            <a:endParaRPr lang="en-US" altLang="zh-CN" sz="3600" b="1" dirty="0"/>
          </a:p>
          <a:p>
            <a:endParaRPr lang="zh-CN" altLang="en-US" sz="36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3600" b="1" dirty="0"/>
              <a:t>Hvorfor er du trist? (</a:t>
            </a:r>
            <a:r>
              <a:rPr lang="zh-CN" altLang="en-US" sz="3600" b="1" dirty="0"/>
              <a:t>你为什么难过？</a:t>
            </a:r>
            <a:r>
              <a:rPr lang="en-US" altLang="zh-CN" sz="3600" b="1"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3600" b="1" dirty="0"/>
              <a:t>Hvorfor kommer du ikke i dag? (</a:t>
            </a:r>
            <a:r>
              <a:rPr lang="zh-CN" altLang="en-US" sz="3600" b="1" dirty="0"/>
              <a:t>你今天为什么不来？</a:t>
            </a:r>
            <a:r>
              <a:rPr lang="en-US" altLang="zh-CN" sz="3600" b="1" dirty="0"/>
              <a:t>)</a:t>
            </a:r>
          </a:p>
          <a:p>
            <a:endParaRPr lang="zh-CN" altLang="en-US" sz="3600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BB15FA8D-DFCB-549F-363A-BA819CC4BE99}"/>
              </a:ext>
            </a:extLst>
          </p:cNvPr>
          <p:cNvSpPr txBox="1">
            <a:spLocks/>
          </p:cNvSpPr>
          <p:nvPr/>
        </p:nvSpPr>
        <p:spPr>
          <a:xfrm>
            <a:off x="1046221" y="331827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zh-CN" altLang="en-US"/>
              <a:t>疑问词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083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DB7DD-FD32-D8B8-53AF-2FFD60F02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D300B1-D8A8-7262-D3C4-D5818B032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AB697D-DC20-003F-A988-053C878E7503}"/>
              </a:ext>
            </a:extLst>
          </p:cNvPr>
          <p:cNvSpPr txBox="1"/>
          <p:nvPr/>
        </p:nvSpPr>
        <p:spPr>
          <a:xfrm>
            <a:off x="927463" y="1997839"/>
            <a:ext cx="1033707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altLang="zh-CN" sz="3600" b="1" dirty="0"/>
              <a:t>5. Hvordan (</a:t>
            </a:r>
            <a:r>
              <a:rPr lang="zh-CN" altLang="en-US" sz="3600" b="1" dirty="0"/>
              <a:t>怎么样 </a:t>
            </a:r>
            <a:r>
              <a:rPr lang="en-US" altLang="zh-CN" sz="3600" b="1" dirty="0"/>
              <a:t>/ </a:t>
            </a:r>
            <a:r>
              <a:rPr lang="zh-CN" altLang="en-US" sz="3600" b="1" dirty="0"/>
              <a:t>如何</a:t>
            </a:r>
            <a:r>
              <a:rPr lang="en-US" altLang="zh-CN" sz="3600" b="1" dirty="0"/>
              <a:t>) - </a:t>
            </a:r>
            <a:r>
              <a:rPr lang="zh-CN" altLang="en-US" sz="3600" b="1" dirty="0"/>
              <a:t>询问方式、状态或程度</a:t>
            </a:r>
            <a:endParaRPr lang="en-US" altLang="zh-CN" sz="3600" b="1" dirty="0"/>
          </a:p>
          <a:p>
            <a:endParaRPr lang="zh-CN" altLang="en-US" sz="36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3600" b="1" dirty="0"/>
              <a:t>Hvordan har du det? (</a:t>
            </a:r>
            <a:r>
              <a:rPr lang="zh-CN" altLang="en-US" sz="3600" b="1" dirty="0"/>
              <a:t>你好吗？</a:t>
            </a:r>
            <a:r>
              <a:rPr lang="en-US" altLang="zh-CN" sz="3600" b="1" dirty="0"/>
              <a:t>/ </a:t>
            </a:r>
            <a:r>
              <a:rPr lang="zh-CN" altLang="en-US" sz="3600" b="1" dirty="0"/>
              <a:t>你过得怎么样？</a:t>
            </a:r>
            <a:r>
              <a:rPr lang="en-US" altLang="zh-CN" sz="3600" b="1"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3600" b="1" dirty="0"/>
              <a:t>Hvordan går det? (</a:t>
            </a:r>
            <a:r>
              <a:rPr lang="zh-CN" altLang="en-US" sz="3600" b="1" dirty="0"/>
              <a:t>最近怎么样？</a:t>
            </a:r>
            <a:r>
              <a:rPr lang="en-US" altLang="zh-CN" sz="3600" b="1" dirty="0"/>
              <a:t>/ </a:t>
            </a:r>
            <a:r>
              <a:rPr lang="zh-CN" altLang="en-US" sz="3600" b="1" dirty="0"/>
              <a:t>进展如何？</a:t>
            </a:r>
            <a:r>
              <a:rPr lang="en-US" altLang="zh-CN" sz="3600" b="1" dirty="0"/>
              <a:t>)</a:t>
            </a:r>
          </a:p>
          <a:p>
            <a:endParaRPr lang="zh-CN" altLang="en-US" sz="3600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284A4FDE-429C-6ACB-3665-04D60AD57708}"/>
              </a:ext>
            </a:extLst>
          </p:cNvPr>
          <p:cNvSpPr txBox="1">
            <a:spLocks/>
          </p:cNvSpPr>
          <p:nvPr/>
        </p:nvSpPr>
        <p:spPr>
          <a:xfrm>
            <a:off x="1046221" y="331827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zh-CN" altLang="en-US"/>
              <a:t>疑问词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73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76615-CBB4-8006-8513-E5E1F4D9B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2EEFD-3E49-A288-8021-297C05451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A1AE31-9724-62B4-4389-76A1D06111BB}"/>
              </a:ext>
            </a:extLst>
          </p:cNvPr>
          <p:cNvSpPr txBox="1"/>
          <p:nvPr/>
        </p:nvSpPr>
        <p:spPr>
          <a:xfrm>
            <a:off x="927463" y="1449199"/>
            <a:ext cx="10337074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altLang="zh-CN" sz="3600" b="1" dirty="0"/>
              <a:t>7. Hvilken / Hvilket / Hvilke (</a:t>
            </a:r>
            <a:r>
              <a:rPr lang="zh-CN" altLang="en-US" sz="3600" b="1" dirty="0"/>
              <a:t>哪个 </a:t>
            </a:r>
            <a:r>
              <a:rPr lang="en-US" altLang="zh-CN" sz="3600" b="1" dirty="0"/>
              <a:t>/ </a:t>
            </a:r>
            <a:r>
              <a:rPr lang="zh-CN" altLang="en-US" sz="3600" b="1" dirty="0"/>
              <a:t>哪些</a:t>
            </a:r>
            <a:r>
              <a:rPr lang="en-US" altLang="zh-CN" sz="3600" b="1" dirty="0"/>
              <a:t>)</a:t>
            </a:r>
          </a:p>
          <a:p>
            <a:endParaRPr lang="en-US" altLang="zh-CN" sz="36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600" dirty="0"/>
              <a:t>询问特定的人或物（需要根据名词词性变化）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3600" dirty="0"/>
              <a:t>Hvilken </a:t>
            </a:r>
            <a:r>
              <a:rPr lang="zh-CN" altLang="en-US" sz="3600" dirty="0"/>
              <a:t>用于阳性</a:t>
            </a:r>
            <a:r>
              <a:rPr lang="en-US" altLang="zh-CN" sz="3600" dirty="0"/>
              <a:t>/</a:t>
            </a:r>
            <a:r>
              <a:rPr lang="zh-CN" altLang="en-US" sz="3600" dirty="0"/>
              <a:t>阴性名词（单数）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3600" dirty="0"/>
              <a:t>Hvilket </a:t>
            </a:r>
            <a:r>
              <a:rPr lang="zh-CN" altLang="en-US" sz="3600" dirty="0"/>
              <a:t>用于中性名词（单数）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3600" dirty="0"/>
              <a:t>Hvilke </a:t>
            </a:r>
            <a:r>
              <a:rPr lang="zh-CN" altLang="en-US" sz="3600" dirty="0"/>
              <a:t>用于复数名词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FD56733C-9447-CCD2-F56F-6CFB722F2CAB}"/>
              </a:ext>
            </a:extLst>
          </p:cNvPr>
          <p:cNvSpPr txBox="1">
            <a:spLocks/>
          </p:cNvSpPr>
          <p:nvPr/>
        </p:nvSpPr>
        <p:spPr>
          <a:xfrm>
            <a:off x="1046221" y="331827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zh-CN" altLang="en-US"/>
              <a:t>疑问词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1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CE516-E813-64F5-5DB5-9F5AE344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D1061-4E08-CEB8-0346-24778321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B61210-8537-74EC-A8BE-5AD792E4D5E2}"/>
              </a:ext>
            </a:extLst>
          </p:cNvPr>
          <p:cNvSpPr txBox="1"/>
          <p:nvPr/>
        </p:nvSpPr>
        <p:spPr>
          <a:xfrm>
            <a:off x="661851" y="1849792"/>
            <a:ext cx="10868297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例句：</a:t>
            </a:r>
            <a:endParaRPr lang="nb-NO" altLang="zh-CN" sz="32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3200" b="1" dirty="0"/>
              <a:t>Hvilken dag er det i dag? (</a:t>
            </a:r>
            <a:r>
              <a:rPr lang="zh-CN" altLang="en-US" sz="3200" b="1" dirty="0"/>
              <a:t>今天是星期几？</a:t>
            </a:r>
            <a:r>
              <a:rPr lang="en-US" altLang="zh-CN" sz="3200" b="1" dirty="0"/>
              <a:t>—</a:t>
            </a:r>
            <a:r>
              <a:rPr lang="nb-NO" altLang="zh-CN" sz="3200" b="1" dirty="0"/>
              <a:t>dag</a:t>
            </a:r>
            <a:r>
              <a:rPr lang="zh-CN" altLang="en-US" sz="3200" b="1" dirty="0"/>
              <a:t> 阳性</a:t>
            </a:r>
            <a:r>
              <a:rPr lang="en-US" altLang="zh-CN" sz="3200" b="1"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3200" b="1" dirty="0"/>
              <a:t>Hvilket språk snakker du? (</a:t>
            </a:r>
            <a:r>
              <a:rPr lang="zh-CN" altLang="en-US" sz="3200" b="1" dirty="0"/>
              <a:t>你说哪种语言？</a:t>
            </a:r>
            <a:r>
              <a:rPr lang="en-US" altLang="zh-CN" sz="3200" b="1" dirty="0"/>
              <a:t>—</a:t>
            </a:r>
            <a:r>
              <a:rPr lang="nb-NO" altLang="zh-CN" sz="3200" b="1" dirty="0"/>
              <a:t>språk</a:t>
            </a:r>
            <a:r>
              <a:rPr lang="zh-CN" altLang="en-US" sz="3200" b="1" dirty="0"/>
              <a:t>中性</a:t>
            </a:r>
            <a:r>
              <a:rPr lang="en-US" altLang="zh-CN" sz="3200" b="1"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3200" b="1" dirty="0"/>
              <a:t>Hvilke bøker liker du best? (</a:t>
            </a:r>
            <a:r>
              <a:rPr lang="zh-CN" altLang="en-US" sz="3200" b="1" dirty="0"/>
              <a:t>你最喜欢哪些书？</a:t>
            </a:r>
            <a:r>
              <a:rPr lang="en-US" altLang="zh-CN" sz="3200" b="1" dirty="0"/>
              <a:t>—</a:t>
            </a:r>
            <a:r>
              <a:rPr lang="nb-NO" altLang="zh-CN" sz="3200" b="1" dirty="0"/>
              <a:t>bøker</a:t>
            </a:r>
            <a:r>
              <a:rPr lang="zh-CN" altLang="en-US" sz="3200" b="1" dirty="0"/>
              <a:t>复数</a:t>
            </a:r>
            <a:r>
              <a:rPr lang="en-US" altLang="zh-CN" sz="3200" b="1" dirty="0"/>
              <a:t>)</a:t>
            </a:r>
          </a:p>
          <a:p>
            <a:endParaRPr lang="zh-CN" altLang="en-US" sz="3200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79D9FF63-E370-A374-22EF-C79A85073DC8}"/>
              </a:ext>
            </a:extLst>
          </p:cNvPr>
          <p:cNvSpPr txBox="1">
            <a:spLocks/>
          </p:cNvSpPr>
          <p:nvPr/>
        </p:nvSpPr>
        <p:spPr>
          <a:xfrm>
            <a:off x="1046221" y="331827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zh-CN" altLang="en-US"/>
              <a:t>疑问词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753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1CDAB-6BA0-4674-DE33-691063D06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75FD0DC-6DF1-31D7-C400-5B0A93FFC56D}"/>
              </a:ext>
            </a:extLst>
          </p:cNvPr>
          <p:cNvSpPr txBox="1"/>
          <p:nvPr/>
        </p:nvSpPr>
        <p:spPr>
          <a:xfrm>
            <a:off x="2067461" y="2496526"/>
            <a:ext cx="80570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1.2 Hva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heter</a:t>
            </a:r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 du?</a:t>
            </a:r>
            <a:endParaRPr lang="zh-CN" altLang="en-US" sz="4400" b="1" spc="300" dirty="0">
              <a:solidFill>
                <a:srgbClr val="94A585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187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fade thruBlk="1"/>
      </p:transition>
    </mc:Choice>
    <mc:Fallback xmlns="">
      <p:transition spd="slow" advTm="3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8BCDF-201D-81BD-3ADE-F38E2B92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9142A21-07DE-7537-CBE6-807186C2BD65}"/>
              </a:ext>
            </a:extLst>
          </p:cNvPr>
          <p:cNvSpPr txBox="1"/>
          <p:nvPr/>
        </p:nvSpPr>
        <p:spPr>
          <a:xfrm>
            <a:off x="2168434" y="2416693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er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FAA6384-C06C-52E9-62ED-F56DCC310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895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206AB-6C61-1E96-B307-FE28E05DE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3F7A839-385A-BDB0-7918-91D1B6552612}"/>
              </a:ext>
            </a:extLst>
          </p:cNvPr>
          <p:cNvSpPr txBox="1"/>
          <p:nvPr/>
        </p:nvSpPr>
        <p:spPr>
          <a:xfrm>
            <a:off x="2333897" y="2373150"/>
            <a:ext cx="792770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是（像英语中的</a:t>
            </a:r>
            <a:r>
              <a:rPr lang="nb-NO" altLang="zh-CN" sz="8000" b="1" dirty="0">
                <a:cs typeface="+mn-ea"/>
                <a:sym typeface="+mn-lt"/>
              </a:rPr>
              <a:t>am, is, </a:t>
            </a:r>
            <a:r>
              <a:rPr lang="nb-NO" altLang="zh-CN" sz="8000" b="1" dirty="0" err="1">
                <a:cs typeface="+mn-ea"/>
                <a:sym typeface="+mn-lt"/>
              </a:rPr>
              <a:t>are</a:t>
            </a:r>
            <a:r>
              <a:rPr lang="zh-CN" altLang="nb-NO" sz="8000" b="1" dirty="0">
                <a:cs typeface="+mn-ea"/>
                <a:sym typeface="+mn-lt"/>
              </a:rPr>
              <a:t>）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0575B4C-F3DC-3A54-288C-164AD2DC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828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59E93-885B-95E1-B969-1BDAB34C2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371EB31-4993-4BCD-D58F-64FEAA20966E}"/>
              </a:ext>
            </a:extLst>
          </p:cNvPr>
          <p:cNvSpPr txBox="1"/>
          <p:nvPr/>
        </p:nvSpPr>
        <p:spPr>
          <a:xfrm>
            <a:off x="2168434" y="2416693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lærer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1210F5E-5D16-000F-C15D-679412004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072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00EDD-6F7D-5FC3-6286-547B7AD03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6B72124-A9DF-104A-0471-32C086DDD330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老师；学习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FDB548C-A7DD-262D-EFBA-41BC585F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325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F90BF-5B55-1C1E-CCC4-5C43EBA3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374887D-5BFF-C9B0-75A8-30C59130455D}"/>
              </a:ext>
            </a:extLst>
          </p:cNvPr>
          <p:cNvSpPr txBox="1"/>
          <p:nvPr/>
        </p:nvSpPr>
        <p:spPr>
          <a:xfrm>
            <a:off x="2168434" y="2416693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Unnskyld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F2B6F79-7ECE-A1FD-C693-16C81AD9B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212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3F6B-E787-7B37-BBAB-757C1F07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DA15FC8-5CB3-6975-4EBB-56ADC021D689}"/>
              </a:ext>
            </a:extLst>
          </p:cNvPr>
          <p:cNvSpPr txBox="1"/>
          <p:nvPr/>
        </p:nvSpPr>
        <p:spPr>
          <a:xfrm>
            <a:off x="1168400" y="2373150"/>
            <a:ext cx="101769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不好意思，打扰一下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1885CE4-5FC9-CB89-7E21-985A6DABC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17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43DDB-B7BE-CCD5-9C4D-960FBD92B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DCA8F38-2D32-5D8D-335A-364C0FD85FE2}"/>
              </a:ext>
            </a:extLst>
          </p:cNvPr>
          <p:cNvSpPr txBox="1"/>
          <p:nvPr/>
        </p:nvSpPr>
        <p:spPr>
          <a:xfrm>
            <a:off x="2168434" y="2416693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forstår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998EAC-A24D-2BCB-4418-4E5FDDFEE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4525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921E9-5F20-14AF-D1F5-D61E5ECD5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37CC23E-4641-5D49-8F96-24DCB1BA5DB2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理解，明白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3226638-0FED-AD1A-6AA9-41E690943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556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5001-C059-C93D-0886-407CEBDA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2530602-6657-44F9-B461-CB34238E963A}"/>
              </a:ext>
            </a:extLst>
          </p:cNvPr>
          <p:cNvSpPr txBox="1"/>
          <p:nvPr/>
        </p:nvSpPr>
        <p:spPr>
          <a:xfrm>
            <a:off x="2168434" y="2416693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Nå forstår jeg.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8B38F54-241A-8783-40A7-EFF73111E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372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288CA-BC60-A61E-FBEB-8BC52D6F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69CE9ED-EA65-8EA5-F679-C2EE292F717C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现在我明白了。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A2F254-294F-9428-CB16-D2FE9B3EE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5080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A5D1C-70D8-AD21-2978-8D0151F3C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E41470B-6297-4E57-531D-D7CEF1D554FE}"/>
              </a:ext>
            </a:extLst>
          </p:cNvPr>
          <p:cNvSpPr txBox="1"/>
          <p:nvPr/>
        </p:nvSpPr>
        <p:spPr>
          <a:xfrm>
            <a:off x="2168434" y="2416693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ikke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FD4CFA4-6B7F-40A2-5882-420F2F594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690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CBFA1-CAE0-6B1B-8AB7-E19C2FACD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888AB6C-2FE5-0087-6D0D-6025D4831477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表示否定：不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4D79E7F-E4CA-B73C-19C6-A2C2A059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431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91637-D412-FF4B-4604-3B229879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EB3C7B9-693B-1320-63E5-B41E0BAC1A4E}"/>
              </a:ext>
            </a:extLst>
          </p:cNvPr>
          <p:cNvSpPr txBox="1"/>
          <p:nvPr/>
        </p:nvSpPr>
        <p:spPr>
          <a:xfrm>
            <a:off x="2168434" y="2416693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cs typeface="+mn-ea"/>
                <a:sym typeface="+mn-lt"/>
              </a:rPr>
              <a:t>riktig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EF07FA0-86B3-12EE-D25C-07075D50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060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12850-2A3A-5747-A474-EA8AAD492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8CEB352-BADD-048B-4E49-9B301B3BA158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对的，正确的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79CCD56-FE31-DCA7-1FF9-2956DAE4A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3273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3D919-20A1-4355-BA7E-852649C99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6E85148-852A-EC38-EB37-4F0DE61068A3}"/>
              </a:ext>
            </a:extLst>
          </p:cNvPr>
          <p:cNvSpPr txBox="1"/>
          <p:nvPr/>
        </p:nvSpPr>
        <p:spPr>
          <a:xfrm>
            <a:off x="2168434" y="2416693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Å ja!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FC81E3E-4C64-1403-A8A7-DA3D42AE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167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03550-CB55-52CE-6A02-FDEB55F03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D2E0700-25B1-E4BE-F10D-F12B3580CE42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哦，是的！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B16DB0-22A8-CA7D-7BA0-3093D8712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79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D40A9-ABCC-5088-1821-7EA6BA1E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B5AFF10-1E69-2EC4-CE95-FFB252E2EE74}"/>
              </a:ext>
            </a:extLst>
          </p:cNvPr>
          <p:cNvSpPr txBox="1"/>
          <p:nvPr/>
        </p:nvSpPr>
        <p:spPr>
          <a:xfrm>
            <a:off x="2168434" y="2416693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Kan du gjenta?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86536DA-ADD5-FADF-2770-0ABF5EA2A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713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3E66E-8A3F-1D32-77A0-4AC02F734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A229D3A-6260-6D14-994A-5F4CA83A590F}"/>
              </a:ext>
            </a:extLst>
          </p:cNvPr>
          <p:cNvSpPr txBox="1"/>
          <p:nvPr/>
        </p:nvSpPr>
        <p:spPr>
          <a:xfrm>
            <a:off x="2130697" y="2390084"/>
            <a:ext cx="87574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你能重复一下吗？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E0AB0-6BF3-6178-F154-BD60BB725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23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1C2FF-F92A-EEE5-D77D-67C273048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C6FF31E-61DF-9E83-4CB6-16B8949F19E2}"/>
              </a:ext>
            </a:extLst>
          </p:cNvPr>
          <p:cNvSpPr txBox="1"/>
          <p:nvPr/>
        </p:nvSpPr>
        <p:spPr>
          <a:xfrm>
            <a:off x="1304350" y="2767280"/>
            <a:ext cx="9583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Hvordan staver du det?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27391C8-0B08-9572-E5E7-8185A9067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8467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9DB4B-410C-FCF4-F50E-19DD6E0B8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49E056A-450D-4316-79E9-AC8AF1129F92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这个怎样拼写？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AF1E47A-0987-A340-2D9D-67A9026D4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4892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2434-7E6B-622E-D8BF-8449D667E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5D537EA-0A80-4645-6EBB-9ABFDE60BB77}"/>
              </a:ext>
            </a:extLst>
          </p:cNvPr>
          <p:cNvSpPr txBox="1"/>
          <p:nvPr/>
        </p:nvSpPr>
        <p:spPr>
          <a:xfrm>
            <a:off x="1304350" y="2767280"/>
            <a:ext cx="9583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Tusen takk!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9AA328D-CC60-0B13-86E5-746681175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035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5FCAD-EF9E-D7C2-385E-737C6FA7F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556520E-EB5A-7FAB-0CBF-328233D6860A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非常感谢！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BA77B48-F1C5-AB90-68CB-78752AD97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352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427CC-524B-C4BC-2AE0-9FD7126B8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73CCEB-B1DD-9604-B922-50FFA982257A}"/>
              </a:ext>
            </a:extLst>
          </p:cNvPr>
          <p:cNvSpPr txBox="1"/>
          <p:nvPr/>
        </p:nvSpPr>
        <p:spPr>
          <a:xfrm>
            <a:off x="1304350" y="2767280"/>
            <a:ext cx="9583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snakker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ABFC9F-6610-FEDB-9633-E4BAC9236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7635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3EB19-03B0-A1F1-D1B1-4826D6B7D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12AE279-4D9E-93A8-1F70-78A4442A9444}"/>
              </a:ext>
            </a:extLst>
          </p:cNvPr>
          <p:cNvSpPr txBox="1"/>
          <p:nvPr/>
        </p:nvSpPr>
        <p:spPr>
          <a:xfrm>
            <a:off x="1303867" y="2373150"/>
            <a:ext cx="77704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说话；交谈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2B36E76-BB91-C8BA-EBD8-12350E4EE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43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57433-174D-5AFE-24E2-A1C8AA474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AD30200-D62B-1392-FAF5-86BAFB21DB12}"/>
              </a:ext>
            </a:extLst>
          </p:cNvPr>
          <p:cNvSpPr txBox="1"/>
          <p:nvPr/>
        </p:nvSpPr>
        <p:spPr>
          <a:xfrm>
            <a:off x="1304350" y="2767280"/>
            <a:ext cx="9583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sammen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4DDCCAD-258E-D4ED-C745-3E78EE6DD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8918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80C64-A378-34CD-519A-9E7CEA0CC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28CD328-2520-4E3B-A6FE-930F72D62ED0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一起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70BEFCA-35AD-20DB-31E5-A0F6556D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7467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BA76C-91F3-BC31-2F6F-E1526C894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0FF0054-E135-DE25-8695-87F224F9D331}"/>
              </a:ext>
            </a:extLst>
          </p:cNvPr>
          <p:cNvSpPr txBox="1"/>
          <p:nvPr/>
        </p:nvSpPr>
        <p:spPr>
          <a:xfrm>
            <a:off x="1304350" y="2767280"/>
            <a:ext cx="9583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alfabetet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545AD5-678B-3484-CEE5-2B288D794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1133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88C21-2A1E-97DC-CD65-2CB27F36D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18885D6-FFE6-02C0-8F59-E61B1C43C580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字母表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3C669D-B1BF-8141-33A6-19FF8EEA7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831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6C8DE-725A-B1BE-07E8-0EFAC8866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2305DE3-6A9C-7857-E9D0-751DD608A87C}"/>
              </a:ext>
            </a:extLst>
          </p:cNvPr>
          <p:cNvSpPr txBox="1"/>
          <p:nvPr/>
        </p:nvSpPr>
        <p:spPr>
          <a:xfrm>
            <a:off x="1142425" y="2381517"/>
            <a:ext cx="9583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spør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355AF4C-8478-780F-6B02-4D5967B0B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6033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E2CFA-68C4-24BF-682D-610761B82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F3FF9C2-A535-362A-6E24-ABBD0E655072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问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DDEF361-F3EE-A9ED-0273-7A972CBA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2887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752EE-F6ED-E217-9CBA-E9E3282EB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C53412C-D659-BC67-9DF2-CFDA22262139}"/>
              </a:ext>
            </a:extLst>
          </p:cNvPr>
          <p:cNvSpPr txBox="1"/>
          <p:nvPr/>
        </p:nvSpPr>
        <p:spPr>
          <a:xfrm>
            <a:off x="1011387" y="2767280"/>
            <a:ext cx="9583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et spør</a:t>
            </a:r>
            <a:r>
              <a:rPr lang="en-US" altLang="zh-CN" sz="8000" b="1" dirty="0" err="1">
                <a:cs typeface="+mn-ea"/>
                <a:sym typeface="+mn-lt"/>
              </a:rPr>
              <a:t>reord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7EE6A55-E712-0346-B280-1A140763F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509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25492-8FBE-6539-B16D-316F1B2FF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BF7D632-DD5D-13B1-38B7-E2441724FABD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疑问词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3D6196D-37FE-3DB4-D57B-0C5A5D3E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307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6ED49-5478-1F95-5DD3-2B51F3821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113BCCB-5685-8B40-6F8C-5FFB76BF0F18}"/>
              </a:ext>
            </a:extLst>
          </p:cNvPr>
          <p:cNvSpPr txBox="1"/>
          <p:nvPr/>
        </p:nvSpPr>
        <p:spPr>
          <a:xfrm>
            <a:off x="1011387" y="2767280"/>
            <a:ext cx="9583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cs typeface="+mn-ea"/>
                <a:sym typeface="+mn-lt"/>
              </a:rPr>
              <a:t>et spørsmål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D78E1F2-2F0C-13D8-E541-CEAC3A44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681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6A092-AB6E-23AE-ABE0-31496ABD6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E8A4F8B-AB71-2AF0-060E-F585A69BB4A9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cs typeface="+mn-ea"/>
                <a:sym typeface="+mn-lt"/>
              </a:rPr>
              <a:t>一个问题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EB27AAC-AE90-5DD7-5BFB-D68D571D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029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E3407-34F2-575A-856C-D70FBD2E0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280F9A2-DBAD-5ED8-B81E-5009963494F8}"/>
              </a:ext>
            </a:extLst>
          </p:cNvPr>
          <p:cNvSpPr txBox="1"/>
          <p:nvPr/>
        </p:nvSpPr>
        <p:spPr>
          <a:xfrm>
            <a:off x="2067461" y="2496526"/>
            <a:ext cx="80570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1.3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Nå</a:t>
            </a:r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bor</a:t>
            </a:r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jeg</a:t>
            </a:r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 I Norge</a:t>
            </a:r>
            <a:endParaRPr lang="zh-CN" altLang="en-US" sz="4400" b="1" spc="300" dirty="0">
              <a:solidFill>
                <a:srgbClr val="94A585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933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fade thruBlk="1"/>
      </p:transition>
    </mc:Choice>
    <mc:Fallback xmlns="">
      <p:transition spd="slow" advTm="3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053E8-2476-22AA-360E-443611E01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3E1E7B0-9780-8100-64F6-07735D8F33DC}"/>
              </a:ext>
            </a:extLst>
          </p:cNvPr>
          <p:cNvSpPr txBox="1"/>
          <p:nvPr/>
        </p:nvSpPr>
        <p:spPr>
          <a:xfrm>
            <a:off x="1976021" y="2742301"/>
            <a:ext cx="87590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1.4 Jeg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snakker</a:t>
            </a:r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litt</a:t>
            </a:r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norsk</a:t>
            </a:r>
            <a:endParaRPr lang="zh-CN" altLang="en-US" sz="4400" b="1" spc="300" dirty="0">
              <a:solidFill>
                <a:srgbClr val="94A585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498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fade thruBlk="1"/>
      </p:transition>
    </mc:Choice>
    <mc:Fallback xmlns="">
      <p:transition spd="slow" advTm="3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D8FB1-BA38-1137-938E-4372C1306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B071989-F0CE-F09A-A555-D03D94A53949}"/>
              </a:ext>
            </a:extLst>
          </p:cNvPr>
          <p:cNvSpPr txBox="1"/>
          <p:nvPr/>
        </p:nvSpPr>
        <p:spPr>
          <a:xfrm>
            <a:off x="1499617" y="3036022"/>
            <a:ext cx="93747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1.5 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Yrkesteskst:Jeg</a:t>
            </a:r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 er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lærer</a:t>
            </a:r>
            <a:endParaRPr lang="zh-CN" altLang="en-US" sz="4400" b="1" spc="300" dirty="0">
              <a:solidFill>
                <a:srgbClr val="94A585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  <a:p>
            <a:pPr algn="ctr"/>
            <a:endParaRPr lang="zh-CN" altLang="en-US" sz="4400" b="1" spc="300" dirty="0">
              <a:solidFill>
                <a:srgbClr val="94A585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022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fade thruBlk="1"/>
      </p:transition>
    </mc:Choice>
    <mc:Fallback xmlns="">
      <p:transition spd="slow" advTm="3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4A58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4218c44-5dd4-423a-a20d-1aaad86ca3f6">
      <a:majorFont>
        <a:latin typeface="思源黑体 CN" panose="020F0302020204030204"/>
        <a:ea typeface="Verdana"/>
        <a:cs typeface=""/>
      </a:majorFont>
      <a:minorFont>
        <a:latin typeface="思源黑体 CN" panose="020F0502020204030204"/>
        <a:ea typeface="Verdan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94A585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94A585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1280</Words>
  <Application>Microsoft Office PowerPoint</Application>
  <PresentationFormat>宽屏</PresentationFormat>
  <Paragraphs>304</Paragraphs>
  <Slides>66</Slides>
  <Notes>57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4" baseType="lpstr">
      <vt:lpstr>Noto Sans SC</vt:lpstr>
      <vt:lpstr>思源宋体 CN Heavy</vt:lpstr>
      <vt:lpstr>思源黑体</vt:lpstr>
      <vt:lpstr>思源黑体 CN</vt:lpstr>
      <vt:lpstr>等线</vt:lpstr>
      <vt:lpstr>Arial</vt:lpstr>
      <vt:lpstr>Verdana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PowerPoint 演示文稿</vt:lpstr>
      <vt:lpstr> </vt:lpstr>
      <vt:lpstr> </vt:lpstr>
      <vt:lpstr>疑问词</vt:lpstr>
      <vt:lpstr> </vt:lpstr>
      <vt:lpstr> </vt:lpstr>
      <vt:lpstr> </vt:lpstr>
      <vt:lpstr> </vt:lpstr>
      <vt:lpstr> </vt:lpstr>
      <vt:lpstr> </vt:lpstr>
      <vt:lpstr> </vt:lpstr>
      <vt:lpstr>PowerPoint 演示文稿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revision>41</cp:revision>
</cp:coreProperties>
</file>