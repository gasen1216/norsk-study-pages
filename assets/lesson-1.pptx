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84" r:id="rId2"/>
    <p:sldId id="286" r:id="rId3"/>
    <p:sldId id="492" r:id="rId4"/>
    <p:sldId id="606" r:id="rId5"/>
    <p:sldId id="607" r:id="rId6"/>
    <p:sldId id="609" r:id="rId7"/>
    <p:sldId id="610" r:id="rId8"/>
    <p:sldId id="626" r:id="rId9"/>
    <p:sldId id="627" r:id="rId10"/>
    <p:sldId id="661" r:id="rId11"/>
    <p:sldId id="662" r:id="rId12"/>
    <p:sldId id="612" r:id="rId13"/>
    <p:sldId id="613" r:id="rId14"/>
    <p:sldId id="614" r:id="rId15"/>
    <p:sldId id="615" r:id="rId16"/>
    <p:sldId id="611" r:id="rId17"/>
    <p:sldId id="608" r:id="rId18"/>
    <p:sldId id="618" r:id="rId19"/>
    <p:sldId id="619" r:id="rId20"/>
    <p:sldId id="663" r:id="rId21"/>
    <p:sldId id="620" r:id="rId22"/>
    <p:sldId id="621" r:id="rId23"/>
    <p:sldId id="622" r:id="rId24"/>
    <p:sldId id="623" r:id="rId25"/>
    <p:sldId id="624" r:id="rId26"/>
    <p:sldId id="616" r:id="rId27"/>
    <p:sldId id="597" r:id="rId28"/>
    <p:sldId id="599" r:id="rId29"/>
    <p:sldId id="593" r:id="rId30"/>
    <p:sldId id="603" r:id="rId31"/>
    <p:sldId id="594" r:id="rId32"/>
    <p:sldId id="595" r:id="rId33"/>
    <p:sldId id="642" r:id="rId34"/>
    <p:sldId id="656" r:id="rId35"/>
    <p:sldId id="657" r:id="rId36"/>
    <p:sldId id="658" r:id="rId37"/>
    <p:sldId id="660" r:id="rId38"/>
    <p:sldId id="65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Rg st="1" end="6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585"/>
    <a:srgbClr val="607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70" y="108"/>
      </p:cViewPr>
      <p:guideLst>
        <p:guide pos="393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25BFA-9804-4093-88E2-8B632930CFDC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CF4FD-A07C-4D73-8CA3-57646D4BEA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0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6A9C-AAED-C5EA-2179-618F387B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C9D731-5CBE-5929-1BE3-8B7FB3885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D19C2-F9D0-8419-C88C-405E1A0BB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75C98-DA20-85B1-6BAF-8B065E306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72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218C-8422-50B3-0E7B-0BCA1823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FE41D9-B58E-8097-6510-C90D4693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B70764-169E-2591-E9E2-A0860C699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92140B-FCA2-714D-7B9C-19CC650E4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98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FE6C-2B0E-DC8A-3DFF-94FF35B40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D252A8-77BB-D51E-D4A8-59AA893B7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FA04CC-8D0A-CC2E-6E67-5D8D4C10B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03BF1F-396C-8B21-61D7-E4C41595F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180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B925-00A4-3E14-8C54-3C8848F9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F0282F-5763-BA8E-AD87-52F60FA20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14EBDE-6987-BD4D-3D07-3B5A4E0BA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4D259-9041-E9EF-D98B-FA0302E98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9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61435-16C1-9C34-CFD9-C56637E3B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7FF98F-1F7A-0D7B-3E4A-FD8344289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26471C-E2FE-4E89-166F-591B2DF7D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89132-D547-500A-B0B7-61491816F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7444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A11-67C2-09AC-718A-CDCFAAEE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523C4-21C0-84F3-5D0E-BDD5A34D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95BDB-5781-A9C5-3E0F-A3C88A3CB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23707-8468-2FBD-1037-02D971BB6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89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DEC3-F74B-7730-AF54-EA92EAC3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B85FC6-F927-1FED-AB82-471DBC226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40D18D-5A02-EBA8-6EE8-CA2B5C01F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F8F8F3-7BE1-6CC7-9C24-E2CF2080F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877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42CE-0805-B2FE-0650-3EC46B3D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936CA9-A8DD-2A7C-0899-B6D4E91D4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E5BAA5-1002-8B8B-58D8-BADB69673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F66017-70D1-3200-18AC-989571BB0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483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693B-F3E4-C3D9-0140-24F92942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D1091-8539-03F7-9486-35393D3D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FCC6D1-BB20-D9B4-FA12-498688447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CD0BA3-014A-3C19-A630-DA0DED32F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209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F491-B605-5D67-6BD8-82F5E46E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BF57EE-D7B0-8C0E-5EF7-B0DCDD58F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C572C-9334-58B2-C9EB-497F7D128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334CA-0C48-410F-129D-8F122D1D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238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9290-5EA7-F6EC-7F2E-4C0635D6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AE577A-60DA-0F23-5155-2185796C9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564622-8AEF-E3A4-02A9-EEE3C6EE9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C5C8E-5F49-3657-5E15-26B1BED0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42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683-4350-7C22-21E0-D37C106C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45B963-5F34-664B-74D9-906C14D8E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B3D994-06DE-7E88-5EE3-1DF39B1D7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A76AE-E131-C1D2-0F6B-79299A241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79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A009-9E4C-8961-7B99-C95282AD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C3C5E9-7319-508A-7EB2-14334AE8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5B0F7-B304-CCD6-CDE4-425BCB63F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760093-8C52-1897-0194-87A2E8A22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69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FE9-2ABF-3113-0431-960C132E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3BE7BA-828F-DD0D-3457-B21F2701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17BDE-D609-91AB-4D47-523B629C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B96C2-F8FB-7553-02A1-0EA1E78F9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24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10F40-258F-F718-923E-9083626E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D7DDDD-71CD-0EC4-9606-C6CA4236A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3CF062-686B-90F6-6129-9BF999033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D25975-9648-5732-8DE1-6882D913F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963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05CC-7677-276F-DE10-43FBDC46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F51CA2-4808-7BC3-F345-A85B0097D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433FD-23DD-137E-8FBC-80B7355D3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543424-9A58-ED75-5A21-686540F12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005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3AA9-FD03-E70D-1A3A-29E9B29B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BDAE5C-248C-1917-790B-FAAA10E5D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59C1CA-6DD6-E694-0061-9B76A674B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E1918-FD73-E1FD-68A4-C8260895E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997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978F3-7E9C-54F7-5A3B-026A37C5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F62109-FCCE-59FB-107C-097D50D01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AA52F3-5BD6-862D-ADFA-2F7BFE088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64683F-DF4F-3556-FFD2-22774BE3A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6874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B8A47-8EEF-1476-94C1-91AE6A59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F6C7E6-3040-9D23-4F15-A4B232CA1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D9F607-6A76-DD4A-7344-A528DCEBE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42DB72-0C2E-66DE-161E-B61A7DD841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118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89CCF-6C42-CBE3-9064-50FD2CCD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B15869-D167-E3EC-F33C-726E1A18C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8B52D6-0ACA-E577-42B9-4610ACB49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D72AA4-3BB2-8B57-461E-E69F1833B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440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5E3A-181A-4B88-5DB5-583FE325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13E74B-15F3-234A-CF69-1DB0CC201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CC3982-1564-C96E-4443-AF396ADB1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C82571-039B-BE17-A202-82FF5D7A1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2852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F51D-B68C-80D7-210F-FC56F5DE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EE8BFC-2FA3-FD34-F444-45D60125B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261098-46AE-CB1E-3520-5D28AABB7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1E92C6-ADDF-AA26-AAE3-4E6E6A5CF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9594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F371-77E2-2A29-5C91-1216B814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A1FC19-5EA5-E355-5DA6-4D806369F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7360E7-5C44-B30D-6469-5437C5FD5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D97B22-7EF5-3AD3-311C-63C85BB07E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84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CD22-2372-465D-9307-73CF7AE2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70B480-54C2-31D9-E162-01FAB5AFA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030624-DE5E-3475-B228-C06FA4AE3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FE3DD9-51F9-3813-3A74-841EC3751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76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1E77-2E24-5642-F82C-2D50A953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810BE3-0502-F477-20DE-626A12298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CC502A-2C34-431D-EC3C-F354E5941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4A78ED-0692-43DB-6098-768E2B8D8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215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C8249-FE35-B6D3-D163-98EB4951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E0BF7-A4B7-94D2-DEB6-0CF872834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3F0471-0B22-193F-8AF8-BC02FD46C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18B22D-F2C5-9CB2-A214-BE4F259A0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340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1F262-94F6-4669-4591-DCD34484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BEA62B-A5F9-2E9B-2E0F-BCAB121EF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A06E0E-FB39-8F30-80EF-466B5A491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61C45-A991-2897-450D-487267A4E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860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2C8E-3B7E-4793-3A65-A2EDAED19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ACCFC2-4313-3891-EBCE-8A4DCCE35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D7AFD-0B1F-B0BE-ED6C-EBC5093E7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A0A56B-C2E4-FBCD-E42F-25A75FFB1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173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CD2A6-8C75-75BA-ECFD-5D15F11E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CAC5D4-1961-C182-9074-B1D806618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50AE12-8AE4-87D2-6815-C344D1CE4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287A00-E64C-24AC-926D-5E494F15D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1462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FF66C-87A4-7BCE-BD56-49A26922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CD67FA-5AB6-FA52-6DE4-4870593D3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F0E360-E6B1-BED2-6774-37CE22F0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3D174A-0A4C-05CC-29AF-ED271BCC7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5149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17EDB-9DEA-8F6A-33EF-B6FCF417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201967-0715-780C-5BDC-FE558E887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628257-CD9D-EBE0-38AC-856212725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95BDFA-3D2F-E55D-B8EC-749C5C9F0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879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93676-C8A4-4F60-EF78-0D772AFA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D9F79F-BAC4-EAB5-A03B-3F71F1516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78ED9A-29F7-7B6B-D24B-BBCAD9A9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F8B38-A5AA-D563-DA5D-1845C0CAA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8753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22CD-FEED-D00B-C020-543F0E57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BDD40C-6066-10A4-9344-FCCA2CF94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5FF9EC-7BE7-287A-E517-3E6D7F0A5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D9F20B-20E8-C7A4-B46A-46F8934E8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247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40DF-02E0-5A02-C763-5EEA3FD31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BAF711-3E82-DAAA-3464-C48312166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FBF6A3-E793-4962-9AC5-EE88B2A6B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20D552-571E-1A99-365F-99210B942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4670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5215-EA14-A9FB-9839-377D2D12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F6F593-EB71-6075-495A-741170EEA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6694C8-9FD7-1F34-5513-598E03D74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9172AD-8287-5D95-B814-08AAC3DAF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70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作者简介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3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内容简介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精彩分享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F7677AC-35B2-4031-8BFC-069432CE8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6EDD1A-F999-47FE-AB89-A950BF78679E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10441D44-3BDA-46B5-A7EA-273A2FA2F73A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4FE133-F81F-0514-8CF1-F56EF910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3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3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EAFD8E-685F-40BD-B2A9-34CECD37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172F3-7A92-46E8-888E-0F076775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CF382-3128-491C-A07F-F25DE83C1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D6B94-8ACF-4077-8696-3DD92418CED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485A7-3C95-43C6-ACB0-7F49417AD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7D102-9642-4449-83F9-D2D058B9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4F94-E846-4316-A9F3-ADEB04DF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0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6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形">
            <a:extLst>
              <a:ext uri="{FF2B5EF4-FFF2-40B4-BE49-F238E27FC236}">
                <a16:creationId xmlns:a16="http://schemas.microsoft.com/office/drawing/2014/main" id="{8D26B845-B235-498A-8B25-F43982FB3EE1}"/>
              </a:ext>
            </a:extLst>
          </p:cNvPr>
          <p:cNvSpPr txBox="1"/>
          <p:nvPr/>
        </p:nvSpPr>
        <p:spPr>
          <a:xfrm>
            <a:off x="1257300" y="2299396"/>
            <a:ext cx="10115550" cy="1268458"/>
          </a:xfrm>
          <a:prstGeom prst="rect">
            <a:avLst/>
          </a:prstGeom>
          <a:noFill/>
          <a:effectLst/>
        </p:spPr>
        <p:txBody>
          <a:bodyPr wrap="square" lIns="104680" tIns="52341" rIns="104680" bIns="52341" rtlCol="0">
            <a:spAutoFit/>
          </a:bodyPr>
          <a:lstStyle/>
          <a:p>
            <a:pPr lvl="0" algn="ctr">
              <a:defRPr/>
            </a:pP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《God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i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norsk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A1/A2</a:t>
            </a:r>
            <a:r>
              <a:rPr kumimoji="0" lang="en-US" altLang="zh-CN" sz="7556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》</a:t>
            </a:r>
            <a:endParaRPr kumimoji="0" lang="zh-CN" altLang="en-US" sz="7556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charset="-122"/>
            </a:endParaRPr>
          </a:p>
        </p:txBody>
      </p:sp>
      <p:pic>
        <p:nvPicPr>
          <p:cNvPr id="27" name="其他元素4">
            <a:hlinkClick r:id="" action="ppaction://media"/>
            <a:extLst>
              <a:ext uri="{FF2B5EF4-FFF2-40B4-BE49-F238E27FC236}">
                <a16:creationId xmlns:a16="http://schemas.microsoft.com/office/drawing/2014/main" id="{0381DCD6-3097-4F34-8422-AAF300CCCB6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9231" y="-7842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4CD78B-B5E5-4F12-A01A-7B9FBB451293}"/>
              </a:ext>
            </a:extLst>
          </p:cNvPr>
          <p:cNvSpPr txBox="1"/>
          <p:nvPr/>
        </p:nvSpPr>
        <p:spPr>
          <a:xfrm>
            <a:off x="4237342" y="1614221"/>
            <a:ext cx="370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Chapter 1</a:t>
            </a:r>
            <a:endParaRPr lang="zh-CN" altLang="en-US" sz="4400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1CC13-FA60-4614-BDB3-42076670C2A2}"/>
              </a:ext>
            </a:extLst>
          </p:cNvPr>
          <p:cNvSpPr txBox="1"/>
          <p:nvPr/>
        </p:nvSpPr>
        <p:spPr>
          <a:xfrm>
            <a:off x="2216228" y="2532743"/>
            <a:ext cx="7746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Vi </a:t>
            </a:r>
            <a:r>
              <a:rPr lang="en-US" altLang="zh-CN" sz="9600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blir</a:t>
            </a:r>
            <a:r>
              <a:rPr lang="en-US" altLang="zh-CN" sz="96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9600" spc="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kjent</a:t>
            </a:r>
            <a:endParaRPr lang="zh-CN" altLang="en-US" sz="9600" spc="300" dirty="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770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53E8-2476-22AA-360E-443611E0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E1E7B0-9780-8100-64F6-07735D8F33DC}"/>
              </a:ext>
            </a:extLst>
          </p:cNvPr>
          <p:cNvSpPr txBox="1"/>
          <p:nvPr/>
        </p:nvSpPr>
        <p:spPr>
          <a:xfrm>
            <a:off x="1976021" y="2742301"/>
            <a:ext cx="87590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1.4 Jeg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snakker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litt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norsk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498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559F-CF70-7CE7-F028-5C1445C3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9B7D97B-8A60-5B92-E4F7-ADBA3CF63B81}"/>
              </a:ext>
            </a:extLst>
          </p:cNvPr>
          <p:cNvSpPr txBox="1"/>
          <p:nvPr/>
        </p:nvSpPr>
        <p:spPr>
          <a:xfrm>
            <a:off x="2168434" y="241669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litt</a:t>
            </a:r>
            <a:endParaRPr lang="zh-CN" altLang="en-US" sz="36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C726266-D3AD-8042-031D-6CFAA91A5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3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E21E-A2EE-94CE-468E-8D389EA0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2658AF-7F42-F3C4-C8C5-0C97D4FB754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一点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3C5117-E43D-C4F1-0B83-82BA616D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43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6E8D-1219-41A4-4185-3F59A8D78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60786F-7900-8550-2BDB-28EE0D41E11F}"/>
              </a:ext>
            </a:extLst>
          </p:cNvPr>
          <p:cNvSpPr txBox="1"/>
          <p:nvPr/>
        </p:nvSpPr>
        <p:spPr>
          <a:xfrm>
            <a:off x="2333897" y="2373150"/>
            <a:ext cx="76924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</a:t>
            </a:r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ange+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可数名词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08AFCD-490E-8346-CA29-908513770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722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7E78-CE09-E1C0-5229-B4E0549E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47C07C-A646-2C36-9296-DBA0AF3AC0A0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很多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428DB9-B69A-D056-ECD7-71425A44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3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E9CDF-73DC-E0CF-D871-65178043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A3308AB-5918-8AA1-611E-E3B6D522C952}"/>
              </a:ext>
            </a:extLst>
          </p:cNvPr>
          <p:cNvSpPr txBox="1"/>
          <p:nvPr/>
        </p:nvSpPr>
        <p:spPr>
          <a:xfrm>
            <a:off x="2333897" y="2373150"/>
            <a:ext cx="76924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mye</a:t>
            </a:r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+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不可数名词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BF72AA-A289-104C-BC2F-D2C24A69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565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57DC-056F-83DE-A460-AC48BDFC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5E99ED-FF51-59BC-D937-C1E5B28F7E49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很多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77621-AC17-4BB1-735A-5D91BF20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559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0436-F6A7-87B4-815D-A52264461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45081E-12A9-1D0F-8621-70F4645E08D1}"/>
              </a:ext>
            </a:extLst>
          </p:cNvPr>
          <p:cNvSpPr txBox="1"/>
          <p:nvPr/>
        </p:nvSpPr>
        <p:spPr>
          <a:xfrm>
            <a:off x="1188098" y="1522748"/>
            <a:ext cx="1009447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mange </a:t>
            </a:r>
            <a:r>
              <a:rPr lang="en-US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venner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 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我有很多朋友。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mye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tid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 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我有很多时间。</a:t>
            </a:r>
            <a:endParaRPr lang="en-US" altLang="zh-CN" sz="3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nb-NO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er mange epler i kurven.  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篮子里有很多苹果。</a:t>
            </a:r>
            <a:b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</a:br>
            <a:r>
              <a:rPr lang="nb-NO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er mye vann i glasset. </a:t>
            </a:r>
            <a:r>
              <a:rPr lang="zh-CN" alt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杯子里有很多水。</a:t>
            </a:r>
          </a:p>
          <a:p>
            <a:pPr algn="ctr"/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054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F0F8-F837-5A18-9A82-5DD88B88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6627E66-E4BA-C4FE-44C0-2797D2760681}"/>
              </a:ext>
            </a:extLst>
          </p:cNvPr>
          <p:cNvSpPr txBox="1"/>
          <p:nvPr/>
        </p:nvSpPr>
        <p:spPr>
          <a:xfrm>
            <a:off x="1525866" y="950772"/>
            <a:ext cx="896609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mye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koster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det?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这个多少钱？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koster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50/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femti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kroner.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这个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50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克朗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 mange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personer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er det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dette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rommet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这个房间里有多少人？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er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hundre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personer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her.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这里有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100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人。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8B4C1C-8B70-7056-2B08-D2D40054B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902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8664-A3EC-E07B-D73E-F3DBABBC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69CCFE-7EB3-375F-A0E4-308975581A7F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språk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601D08-97AF-DF73-BF63-577C96FE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706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75DC-C80B-85AC-204F-974FFABE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30C342-5580-A6F0-3276-7E80152AB51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语言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7B0657-284E-CE12-8BEF-515743C3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6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D388-CD32-695D-F25B-4B5B4C90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A18CA5-EA86-3358-BC82-37FEA6B0E4B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 skolen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B06F6A-11D2-FD1C-28D0-B2A0D42A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9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274-F8E4-4EF2-6C26-07DAA0AA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3BFA11-7BDF-9DC9-9AA1-56DAB4E5AA32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在学校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F6B8F6-DC62-DC37-C83C-433B2ACF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210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A7C1-AA0D-3146-C145-5BF06205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002E1F-0805-769C-91C0-FCF40F60A8EE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 norskkurs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BE30B3-FB88-E063-E9B0-E83AAD2C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20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6BBD-3629-68CE-77DD-0E957CD5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028DD8-8DC1-7E4D-523A-2F74D2C28834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在挪威语课上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BF7DDE-9358-913E-1980-348289DA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9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5B14A-7F26-B902-F434-E34C5B1D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07855D-1D0A-1178-85EE-33BB36C9788D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 klassen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A6F86FB-26A7-4980-C423-5CB6A22D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45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08C38-1CDF-50BB-EDF8-CBEC2304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1472F3-5B87-A400-583A-12B70794F6CD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在课堂上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7323B3-827B-78C6-9C33-243B4289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00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27F5-9A9C-FE2D-C6C9-B30AD983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B467D-31B7-8585-8761-E44EAF828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1589B26-8032-08EA-73CA-99AAC62AC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155627"/>
              </p:ext>
            </p:extLst>
          </p:nvPr>
        </p:nvGraphicFramePr>
        <p:xfrm>
          <a:off x="421439" y="950772"/>
          <a:ext cx="11184976" cy="4619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466">
                  <a:extLst>
                    <a:ext uri="{9D8B030D-6E8A-4147-A177-3AD203B41FA5}">
                      <a16:colId xmlns:a16="http://schemas.microsoft.com/office/drawing/2014/main" val="4091657598"/>
                    </a:ext>
                  </a:extLst>
                </a:gridCol>
                <a:gridCol w="1623082">
                  <a:extLst>
                    <a:ext uri="{9D8B030D-6E8A-4147-A177-3AD203B41FA5}">
                      <a16:colId xmlns:a16="http://schemas.microsoft.com/office/drawing/2014/main" val="2545686760"/>
                    </a:ext>
                  </a:extLst>
                </a:gridCol>
                <a:gridCol w="3738520">
                  <a:extLst>
                    <a:ext uri="{9D8B030D-6E8A-4147-A177-3AD203B41FA5}">
                      <a16:colId xmlns:a16="http://schemas.microsoft.com/office/drawing/2014/main" val="3346270728"/>
                    </a:ext>
                  </a:extLst>
                </a:gridCol>
                <a:gridCol w="2565454">
                  <a:extLst>
                    <a:ext uri="{9D8B030D-6E8A-4147-A177-3AD203B41FA5}">
                      <a16:colId xmlns:a16="http://schemas.microsoft.com/office/drawing/2014/main" val="2734020460"/>
                    </a:ext>
                  </a:extLst>
                </a:gridCol>
                <a:gridCol w="2565454">
                  <a:extLst>
                    <a:ext uri="{9D8B030D-6E8A-4147-A177-3AD203B41FA5}">
                      <a16:colId xmlns:a16="http://schemas.microsoft.com/office/drawing/2014/main" val="4070580956"/>
                    </a:ext>
                  </a:extLst>
                </a:gridCol>
              </a:tblGrid>
              <a:tr h="60158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介词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核心含义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使用场景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例句</a:t>
                      </a:r>
                      <a:endParaRPr lang="en-US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4028"/>
                  </a:ext>
                </a:extLst>
              </a:tr>
              <a:tr h="1964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dirty="0"/>
                        <a:t>在… 里面，</a:t>
                      </a:r>
                      <a:endParaRPr lang="en-US" altLang="zh-CN" dirty="0"/>
                    </a:p>
                    <a:p>
                      <a:r>
                        <a:rPr lang="zh-CN" altLang="zh-CN" dirty="0"/>
                        <a:t>在内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1. </a:t>
                      </a:r>
                      <a:r>
                        <a:rPr lang="zh-CN" altLang="en-US" dirty="0"/>
                        <a:t>封闭空间：房间、房子、建筑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2. </a:t>
                      </a:r>
                      <a:r>
                        <a:rPr lang="zh-CN" altLang="en-US" dirty="0"/>
                        <a:t>大陆、国家、城市（大部分）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3. </a:t>
                      </a:r>
                      <a:r>
                        <a:rPr lang="zh-CN" altLang="en-US" dirty="0"/>
                        <a:t>月份、年份、季节、较长时间段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4. </a:t>
                      </a:r>
                      <a:r>
                        <a:rPr lang="zh-CN" altLang="en-US" dirty="0"/>
                        <a:t>群体、材料、语言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i Norge </a:t>
                      </a:r>
                      <a:r>
                        <a:rPr lang="zh-CN" altLang="en-US" dirty="0"/>
                        <a:t>在挪威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i rommet </a:t>
                      </a:r>
                      <a:r>
                        <a:rPr lang="zh-CN" altLang="en-US" dirty="0"/>
                        <a:t>在房间里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i sommer </a:t>
                      </a:r>
                      <a:r>
                        <a:rPr lang="zh-CN" altLang="en-US" dirty="0"/>
                        <a:t>在夏天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i 2026 </a:t>
                      </a:r>
                      <a:r>
                        <a:rPr lang="zh-CN" altLang="en-US" dirty="0"/>
                        <a:t>在 </a:t>
                      </a:r>
                      <a:r>
                        <a:rPr lang="en-US" altLang="zh-CN" dirty="0"/>
                        <a:t>2026 </a:t>
                      </a:r>
                      <a:r>
                        <a:rPr lang="zh-CN" altLang="en-US" dirty="0"/>
                        <a:t>年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i en uke </a:t>
                      </a:r>
                      <a:r>
                        <a:rPr lang="zh-CN" altLang="en-US" dirty="0"/>
                        <a:t>持续一周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Jeg er </a:t>
                      </a:r>
                      <a:r>
                        <a:rPr lang="zh-CN" altLang="zh-CN" b="1" dirty="0"/>
                        <a:t>i</a:t>
                      </a:r>
                      <a:r>
                        <a:rPr lang="zh-CN" altLang="zh-CN" dirty="0"/>
                        <a:t> huset.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Jeg bor </a:t>
                      </a:r>
                      <a:r>
                        <a:rPr lang="zh-CN" altLang="zh-CN" b="1" dirty="0"/>
                        <a:t>i</a:t>
                      </a:r>
                      <a:r>
                        <a:rPr lang="zh-CN" altLang="zh-CN" dirty="0"/>
                        <a:t> Oslo.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Vi reiser </a:t>
                      </a:r>
                      <a:r>
                        <a:rPr lang="zh-CN" altLang="zh-CN" b="1" dirty="0"/>
                        <a:t>i</a:t>
                      </a:r>
                      <a:r>
                        <a:rPr lang="zh-CN" altLang="zh-CN" dirty="0"/>
                        <a:t> juni.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dirty="0"/>
                        <a:t>B</a:t>
                      </a:r>
                      <a:r>
                        <a:rPr lang="zh-CN" altLang="zh-CN" dirty="0"/>
                        <a:t>oken er </a:t>
                      </a:r>
                      <a:r>
                        <a:rPr lang="zh-CN" altLang="zh-CN" b="1" dirty="0"/>
                        <a:t>i</a:t>
                      </a:r>
                      <a:r>
                        <a:rPr lang="zh-CN" altLang="zh-CN" dirty="0"/>
                        <a:t> bokhylla.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dirty="0"/>
                        <a:t>S</a:t>
                      </a:r>
                      <a:r>
                        <a:rPr lang="zh-CN" altLang="zh-CN" dirty="0"/>
                        <a:t>nakke </a:t>
                      </a:r>
                      <a:r>
                        <a:rPr lang="zh-CN" altLang="zh-CN" b="1" dirty="0"/>
                        <a:t>i</a:t>
                      </a:r>
                      <a:r>
                        <a:rPr lang="zh-CN" altLang="zh-CN" dirty="0"/>
                        <a:t> en gruppe</a:t>
                      </a:r>
                      <a:r>
                        <a:rPr lang="en-US" altLang="zh-CN" dirty="0"/>
                        <a:t>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054592"/>
                  </a:ext>
                </a:extLst>
              </a:tr>
              <a:tr h="2054081">
                <a:tc>
                  <a:txBody>
                    <a:bodyPr/>
                    <a:lstStyle/>
                    <a:p>
                      <a:pPr algn="ctr"/>
                      <a:r>
                        <a:rPr lang="zh-CN" altLang="zh-CN" dirty="0"/>
                        <a:t>på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在</a:t>
                      </a:r>
                      <a:r>
                        <a:rPr lang="en-US" altLang="zh-CN" dirty="0"/>
                        <a:t>… </a:t>
                      </a:r>
                      <a:r>
                        <a:rPr lang="zh-CN" altLang="en-US" dirty="0"/>
                        <a:t>表面；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在某个地点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（点状 </a:t>
                      </a:r>
                      <a:r>
                        <a:rPr lang="en-US" altLang="zh-CN" dirty="0"/>
                        <a:t>/ </a:t>
                      </a:r>
                      <a:r>
                        <a:rPr lang="zh-CN" altLang="en-US" dirty="0"/>
                        <a:t>平面）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1. </a:t>
                      </a:r>
                      <a:r>
                        <a:rPr lang="zh-CN" altLang="en-US" dirty="0"/>
                        <a:t>平面：桌子、地板、墙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2. </a:t>
                      </a:r>
                      <a:r>
                        <a:rPr lang="zh-CN" altLang="en-US" dirty="0"/>
                        <a:t>岛屿、海滩、山顶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3. </a:t>
                      </a:r>
                      <a:r>
                        <a:rPr lang="zh-CN" altLang="en-US" dirty="0"/>
                        <a:t>媒体、网络、电话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4. </a:t>
                      </a:r>
                      <a:r>
                        <a:rPr lang="zh-CN" altLang="en-US" dirty="0"/>
                        <a:t>星期几、特定日期</a:t>
                      </a:r>
                      <a:endParaRPr lang="en-US" altLang="zh-CN" dirty="0"/>
                    </a:p>
                    <a:p>
                      <a:pPr marL="0" indent="0"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altLang="zh-CN" dirty="0"/>
                        <a:t>5. </a:t>
                      </a:r>
                      <a:r>
                        <a:rPr lang="zh-CN" altLang="en-US" dirty="0"/>
                        <a:t>很多固定地点：</a:t>
                      </a:r>
                      <a:r>
                        <a:rPr lang="en-US" altLang="zh-CN" dirty="0" err="1"/>
                        <a:t>skole</a:t>
                      </a:r>
                      <a:r>
                        <a:rPr lang="en-US" altLang="zh-CN" dirty="0"/>
                        <a:t>, </a:t>
                      </a:r>
                      <a:r>
                        <a:rPr lang="en-US" altLang="zh-CN" dirty="0" err="1"/>
                        <a:t>jobb</a:t>
                      </a:r>
                      <a:r>
                        <a:rPr lang="en-US" altLang="zh-CN" dirty="0"/>
                        <a:t>, gata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på skolen </a:t>
                      </a:r>
                      <a:r>
                        <a:rPr lang="zh-CN" altLang="en-US" dirty="0"/>
                        <a:t>在学校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på gata </a:t>
                      </a:r>
                      <a:r>
                        <a:rPr lang="zh-CN" altLang="en-US" dirty="0"/>
                        <a:t>在街上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på nettet </a:t>
                      </a:r>
                      <a:r>
                        <a:rPr lang="zh-CN" altLang="en-US" dirty="0"/>
                        <a:t>在网上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på øya </a:t>
                      </a:r>
                      <a:r>
                        <a:rPr lang="zh-CN" altLang="en-US" dirty="0"/>
                        <a:t>在岛上</a:t>
                      </a: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nb-NO" altLang="zh-CN" dirty="0"/>
                        <a:t>på torsdag </a:t>
                      </a:r>
                      <a:r>
                        <a:rPr lang="zh-CN" altLang="en-US" dirty="0"/>
                        <a:t>在周四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Boken ligger </a:t>
                      </a:r>
                      <a:r>
                        <a:rPr lang="zh-CN" altLang="zh-CN" b="1" dirty="0"/>
                        <a:t>på</a:t>
                      </a:r>
                      <a:r>
                        <a:rPr lang="zh-CN" altLang="zh-CN" dirty="0"/>
                        <a:t> bordet.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Vi er </a:t>
                      </a:r>
                      <a:r>
                        <a:rPr lang="zh-CN" altLang="zh-CN" b="1" dirty="0"/>
                        <a:t>på</a:t>
                      </a:r>
                      <a:r>
                        <a:rPr lang="zh-CN" altLang="zh-CN" dirty="0"/>
                        <a:t> stranda.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zh-CN" dirty="0"/>
                        <a:t>Han s</a:t>
                      </a:r>
                      <a:r>
                        <a:rPr lang="zh-CN" altLang="zh-CN" dirty="0"/>
                        <a:t>nakke </a:t>
                      </a:r>
                      <a:r>
                        <a:rPr lang="zh-CN" altLang="zh-CN" b="1" dirty="0"/>
                        <a:t>på</a:t>
                      </a:r>
                      <a:r>
                        <a:rPr lang="zh-CN" altLang="zh-CN" dirty="0"/>
                        <a:t> telefonen.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Møtet er </a:t>
                      </a:r>
                      <a:r>
                        <a:rPr lang="zh-CN" altLang="zh-CN" b="1" dirty="0"/>
                        <a:t>på</a:t>
                      </a:r>
                      <a:r>
                        <a:rPr lang="zh-CN" altLang="zh-CN" dirty="0"/>
                        <a:t> mandag.</a:t>
                      </a:r>
                      <a:endParaRPr lang="en-US" altLang="zh-CN" dirty="0"/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altLang="zh-CN" dirty="0"/>
                        <a:t>Jeg er </a:t>
                      </a:r>
                      <a:r>
                        <a:rPr lang="zh-CN" altLang="zh-CN" b="1" dirty="0"/>
                        <a:t>på</a:t>
                      </a:r>
                      <a:r>
                        <a:rPr lang="zh-CN" altLang="zh-CN" dirty="0"/>
                        <a:t> jobben.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44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67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7E4C9-D1A7-C7F8-C6B6-E013C4FF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41375-3CAD-2E81-1963-13F1EBFA895D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bilde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8CB2FB-5300-0526-C915-50863A0B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56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A0B15-258D-6720-D5DE-05BD6456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236F87-C620-636E-749B-86EF3574258F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照片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73DD025-973C-9ED7-F60A-2A047BEF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488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742B-42CC-F0CC-9F44-52B08E1A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489FB4-F935-0DCE-4EC9-0D44A4B5B2E7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hilsen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6780312-674E-4E8F-AF88-D568DAF6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487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C0B5-B279-D3B6-6481-24080B3F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413AE9-6877-1E72-DAFE-3F0D2B020219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问候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32293F-4DD3-0E57-4FB4-F0A4C729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190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6EE9-AD29-943E-0E16-DCE4BD21C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018AB-6727-5869-8B39-7BB38ADD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884" y="259489"/>
            <a:ext cx="5933536" cy="549275"/>
          </a:xfrm>
        </p:spPr>
        <p:txBody>
          <a:bodyPr>
            <a:normAutofit/>
          </a:bodyPr>
          <a:lstStyle/>
          <a:p>
            <a:r>
              <a:rPr lang="en-US" altLang="zh-CN" dirty="0"/>
              <a:t> Nationality </a:t>
            </a:r>
            <a:r>
              <a:rPr lang="zh-CN" altLang="en-US" dirty="0"/>
              <a:t>国籍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07147BB-4C2B-1292-0A78-D76D7D42F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52405"/>
              </p:ext>
            </p:extLst>
          </p:nvPr>
        </p:nvGraphicFramePr>
        <p:xfrm>
          <a:off x="719546" y="917473"/>
          <a:ext cx="10892244" cy="540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1333">
                  <a:extLst>
                    <a:ext uri="{9D8B030D-6E8A-4147-A177-3AD203B41FA5}">
                      <a16:colId xmlns:a16="http://schemas.microsoft.com/office/drawing/2014/main" val="1784360117"/>
                    </a:ext>
                  </a:extLst>
                </a:gridCol>
                <a:gridCol w="2694214">
                  <a:extLst>
                    <a:ext uri="{9D8B030D-6E8A-4147-A177-3AD203B41FA5}">
                      <a16:colId xmlns:a16="http://schemas.microsoft.com/office/drawing/2014/main" val="2458523559"/>
                    </a:ext>
                  </a:extLst>
                </a:gridCol>
                <a:gridCol w="2963636">
                  <a:extLst>
                    <a:ext uri="{9D8B030D-6E8A-4147-A177-3AD203B41FA5}">
                      <a16:colId xmlns:a16="http://schemas.microsoft.com/office/drawing/2014/main" val="1718750836"/>
                    </a:ext>
                  </a:extLst>
                </a:gridCol>
                <a:gridCol w="2723061">
                  <a:extLst>
                    <a:ext uri="{9D8B030D-6E8A-4147-A177-3AD203B41FA5}">
                      <a16:colId xmlns:a16="http://schemas.microsoft.com/office/drawing/2014/main" val="10391708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Country</a:t>
                      </a:r>
                      <a:r>
                        <a:rPr lang="zh-CN" altLang="en-US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国家</a:t>
                      </a:r>
                      <a:endParaRPr lang="en-US" alt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Nationality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国籍</a:t>
                      </a:r>
                      <a:endParaRPr lang="en-US" alt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Person </a:t>
                      </a:r>
                      <a:r>
                        <a:rPr lang="zh-CN" altLang="en-US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（哪国人）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Language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0" i="0" dirty="0">
                          <a:solidFill>
                            <a:srgbClr val="272833"/>
                          </a:solidFill>
                          <a:effectLst/>
                          <a:latin typeface="Open Sans" panose="020B0606030504020204" pitchFamily="34" charset="0"/>
                        </a:rPr>
                        <a:t>语言</a:t>
                      </a:r>
                      <a:endParaRPr lang="zh-CN" alt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133192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Norge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norsk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nordmann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norsk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1342422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England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engelsk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engelskmann 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engelsk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3817886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Frankrike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fransk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franskmann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fransk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186612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Italia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italiensk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italiener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italiensk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37521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Nederland 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nederlandsk 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nederlender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nederlandsk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3688782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Polen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polsk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polakk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polsk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2889104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Spania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spansk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spanjol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spansk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138145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Tyskland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tysk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tysker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>
                          <a:effectLst/>
                        </a:rPr>
                        <a:t>tysk</a:t>
                      </a:r>
                      <a:endParaRPr lang="zh-CN" sz="2800" b="0" i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3432254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USA</a:t>
                      </a:r>
                      <a:endParaRPr lang="en-US" altLang="zh-CN" sz="2800" dirty="0">
                        <a:effectLst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amerikansk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en amerikaner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800" dirty="0">
                          <a:effectLst/>
                        </a:rPr>
                        <a:t>(amerikansk) engelsk</a:t>
                      </a:r>
                      <a:endParaRPr lang="zh-CN" sz="2800" b="0" i="0" dirty="0">
                        <a:solidFill>
                          <a:srgbClr val="272833"/>
                        </a:solidFill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14288" marR="14288" marT="14288" marB="14288"/>
                </a:tc>
                <a:extLst>
                  <a:ext uri="{0D108BD9-81ED-4DB2-BD59-A6C34878D82A}">
                    <a16:rowId xmlns:a16="http://schemas.microsoft.com/office/drawing/2014/main" val="386355368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8333A24D-64C7-4001-A309-E3D5EC1CF5AF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920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25BEB-36C3-802C-82EE-AE026846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A761505-59AA-C622-901A-681003FEF183}"/>
              </a:ext>
            </a:extLst>
          </p:cNvPr>
          <p:cNvSpPr txBox="1"/>
          <p:nvPr/>
        </p:nvSpPr>
        <p:spPr>
          <a:xfrm>
            <a:off x="1386840" y="1632563"/>
            <a:ext cx="94183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sier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sa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sagt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｜说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vil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i="1" dirty="0" err="1">
                <a:solidFill>
                  <a:schemeClr val="accent2"/>
                </a:solidFill>
                <a:cs typeface="+mn-ea"/>
                <a:sym typeface="+mn-lt"/>
              </a:rPr>
              <a:t>si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noe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til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henne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（原型）我想跟她说点事。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en-US" altLang="zh-CN" sz="3200" i="1" dirty="0" err="1">
                <a:solidFill>
                  <a:schemeClr val="accent2"/>
                </a:solidFill>
                <a:cs typeface="+mn-ea"/>
                <a:sym typeface="+mn-lt"/>
              </a:rPr>
              <a:t>sier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at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er </a:t>
            </a:r>
            <a:r>
              <a:rPr lang="zh-CN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</a:rPr>
              <a:t>trøtt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（现在时）她说她累了。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</a:t>
            </a:r>
            <a:r>
              <a:rPr lang="en-US" altLang="zh-CN" sz="3200" i="1" dirty="0" err="1">
                <a:solidFill>
                  <a:schemeClr val="accent2"/>
                </a:solidFill>
                <a:cs typeface="+mn-ea"/>
                <a:sym typeface="+mn-lt"/>
              </a:rPr>
              <a:t>sa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（过去时）他昨天说了这件事。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en-US" altLang="zh-CN" sz="3200" i="1" dirty="0" err="1">
                <a:solidFill>
                  <a:schemeClr val="accent2"/>
                </a:solidFill>
                <a:cs typeface="+mn-ea"/>
                <a:sym typeface="+mn-lt"/>
              </a:rPr>
              <a:t>har</a:t>
            </a:r>
            <a:r>
              <a:rPr lang="en-US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3200" i="1" dirty="0" err="1">
                <a:solidFill>
                  <a:schemeClr val="accent2"/>
                </a:solidFill>
                <a:cs typeface="+mn-ea"/>
                <a:sym typeface="+mn-lt"/>
              </a:rPr>
              <a:t>sagt</a:t>
            </a:r>
            <a:r>
              <a:rPr lang="en-US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3200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sannheten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（完成时）我们已经说出真相</a:t>
            </a:r>
            <a:endParaRPr lang="zh-CN" altLang="en-US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B9DF323E-AAA4-A352-7444-626836C3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46" y="1083288"/>
            <a:ext cx="5934075" cy="549275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193B7F02-2CE6-7844-AC2B-75297C33A112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701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EA3B7-F123-B561-B648-3E67665BE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0F32D5D-4068-173B-1D5E-82DE4B5C1028}"/>
              </a:ext>
            </a:extLst>
          </p:cNvPr>
          <p:cNvSpPr txBox="1"/>
          <p:nvPr/>
        </p:nvSpPr>
        <p:spPr>
          <a:xfrm>
            <a:off x="862149" y="1284579"/>
            <a:ext cx="104851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se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ser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så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sett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看见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vil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se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ham.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原型）我想见他。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ser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ham hver dag.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现在时）她每天见到他。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så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deg på gaten.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过去时）我在街上看见了你。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har sett 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filmen.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完成时）我们看过这部电影。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9C4D5A-599D-9EB0-4CDD-D0E464F2E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512203D1-D424-D885-48F2-D7B9F844E201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344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DD2B1-2AAA-71C2-C970-6CD3DB92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266126D-19F3-61CD-443F-80A7890C11F6}"/>
              </a:ext>
            </a:extLst>
          </p:cNvPr>
          <p:cNvSpPr txBox="1"/>
          <p:nvPr/>
        </p:nvSpPr>
        <p:spPr>
          <a:xfrm>
            <a:off x="674914" y="1232328"/>
            <a:ext cx="108421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gå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gikk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gått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走、去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skal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gå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skolen.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原型）我们要去上学。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går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skolen.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现在时）我走路去上学。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gikk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hjem klokken fem.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过去时）她五点回家了。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har gått 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der mange ganger.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完成时）我去过那里很多次。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EC88F55-C4ED-A908-DF3B-A07438783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1C251FD-0F43-7540-2F94-35200AED8EDA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94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BF7D-FAF2-B186-E9CA-A100BCF2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2CB0B8-A50C-6880-905E-450C2503F1D4}"/>
              </a:ext>
            </a:extLst>
          </p:cNvPr>
          <p:cNvSpPr txBox="1"/>
          <p:nvPr/>
        </p:nvSpPr>
        <p:spPr>
          <a:xfrm>
            <a:off x="461554" y="1319413"/>
            <a:ext cx="1126889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lytte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lytter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lyttet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lyttet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倾听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Du må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lytte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ham.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原型）你必须听他讲。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lytter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læreren.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现在时）她听老师讲话。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lyttet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henne.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过去时）他听她说话。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har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lyttet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til musikken.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完成时）我已经听过这首歌。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50A0EEC-5B24-339D-3799-3FF147ED8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4BDDAD7-5575-197A-07B0-8FBFAD012DC7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979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5DB0-DE58-A4A4-956E-CDDA0801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0232A9-C40B-3A91-9C2E-8B8649DD2784}"/>
              </a:ext>
            </a:extLst>
          </p:cNvPr>
          <p:cNvSpPr txBox="1"/>
          <p:nvPr/>
        </p:nvSpPr>
        <p:spPr>
          <a:xfrm>
            <a:off x="674914" y="1232328"/>
            <a:ext cx="108421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vite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visste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visst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知道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Du må </a:t>
            </a:r>
            <a:r>
              <a:rPr lang="nb-NO" altLang="zh-CN" sz="3200" dirty="0">
                <a:solidFill>
                  <a:schemeClr val="accent2"/>
                </a:solidFill>
                <a:cs typeface="+mn-ea"/>
                <a:sym typeface="+mn-lt"/>
              </a:rPr>
              <a:t>vite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sannheten.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原型）你必须知道真相。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dirty="0">
                <a:solidFill>
                  <a:schemeClr val="accent2"/>
                </a:solidFill>
                <a:cs typeface="+mn-ea"/>
                <a:sym typeface="+mn-lt"/>
              </a:rPr>
              <a:t>vet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navnet hans.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现在时）我知道他的名字。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nb-NO" altLang="zh-CN" sz="3200" dirty="0">
                <a:solidFill>
                  <a:schemeClr val="accent2"/>
                </a:solidFill>
                <a:cs typeface="+mn-ea"/>
                <a:sym typeface="+mn-lt"/>
              </a:rPr>
              <a:t>visste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svaret.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过去时）她知道答案。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nb-NO" altLang="zh-CN" sz="3200" dirty="0">
                <a:solidFill>
                  <a:schemeClr val="accent2"/>
                </a:solidFill>
                <a:cs typeface="+mn-ea"/>
                <a:sym typeface="+mn-lt"/>
              </a:rPr>
              <a:t>har visst 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lenge.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完成时）我们早就知道这件事。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E13E7A-C82C-0531-E51F-C5784E27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8240630-9724-1FDC-748B-8DF012A74945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79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1C2F-F5EC-7987-4C12-6198E818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4D04E19-78FC-CEA4-F0BB-4718E7572842}"/>
              </a:ext>
            </a:extLst>
          </p:cNvPr>
          <p:cNvSpPr txBox="1"/>
          <p:nvPr/>
        </p:nvSpPr>
        <p:spPr>
          <a:xfrm>
            <a:off x="862150" y="1284579"/>
            <a:ext cx="98406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like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liker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likte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likt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喜欢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vil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like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boken.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原型）我会喜欢这本书。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liker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kaffe.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现在时）我喜欢咖啡。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likte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boken.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过去时）她当时喜欢这本书。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har likt 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maten.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完成时）他一直很喜欢这食物。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4FBD951-7471-5A58-4247-C1645FC7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35908DB-B2A9-1F4E-EC70-C1C091AD09B0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099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E4D6-6094-59EF-27D7-E113486A1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F97805-E7D8-561A-B430-1DA03A410C39}"/>
              </a:ext>
            </a:extLst>
          </p:cNvPr>
          <p:cNvSpPr txBox="1"/>
          <p:nvPr/>
        </p:nvSpPr>
        <p:spPr>
          <a:xfrm>
            <a:off x="862149" y="1284579"/>
            <a:ext cx="104851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vente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venter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ventet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 ventet</a:t>
            </a:r>
            <a:r>
              <a:rPr lang="zh-CN" altLang="nb-NO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等待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skal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vente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på ham.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原型）我们要等他。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venter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på meg.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现在时）他正在等我。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ventet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lenge.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过去时）我们等了很久。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 </a:t>
            </a:r>
            <a:r>
              <a:rPr lang="nb-NO" altLang="zh-CN" sz="3200" i="1" dirty="0">
                <a:solidFill>
                  <a:schemeClr val="accent2"/>
                </a:solidFill>
                <a:cs typeface="+mn-ea"/>
                <a:sym typeface="+mn-lt"/>
              </a:rPr>
              <a:t>har ventet</a:t>
            </a:r>
            <a:r>
              <a:rPr lang="nb-NO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i en time.</a:t>
            </a:r>
            <a:r>
              <a:rPr lang="zh-CN" altLang="nb-NO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完成时）他们已经等了一小时。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6859EC-2431-1110-C623-FB163C15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AC46318-CEB9-1A33-CA16-3EA0F711E25F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002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512B-43EB-424E-DE54-640B9242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1A9BD-CC42-5DD7-0716-B8AC777E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C14A94-BB7E-285F-A85E-AB0FF5EA79F0}"/>
              </a:ext>
            </a:extLst>
          </p:cNvPr>
          <p:cNvSpPr txBox="1"/>
          <p:nvPr/>
        </p:nvSpPr>
        <p:spPr>
          <a:xfrm>
            <a:off x="1011387" y="1647803"/>
            <a:ext cx="110163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å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gjøre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gjør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gjorde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gjort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｜做，干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vil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i="1" dirty="0" err="1">
                <a:solidFill>
                  <a:schemeClr val="accent2"/>
                </a:solidFill>
                <a:cs typeface="+mn-ea"/>
                <a:sym typeface="+mn-lt"/>
              </a:rPr>
              <a:t>gjøre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leksene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mine.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（原型）我想要做作业。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Hun </a:t>
            </a:r>
            <a:r>
              <a:rPr lang="en-US" altLang="zh-CN" sz="3200" b="1" i="1" dirty="0" err="1">
                <a:solidFill>
                  <a:schemeClr val="accent2"/>
                </a:solidFill>
                <a:cs typeface="+mn-ea"/>
                <a:sym typeface="+mn-lt"/>
              </a:rPr>
              <a:t>gjør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rent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huset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（现在时）她正在打扫屋子。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</a:t>
            </a:r>
            <a:r>
              <a:rPr lang="en-US" altLang="zh-CN" sz="3200" b="1" i="1" dirty="0" err="1">
                <a:solidFill>
                  <a:schemeClr val="accent2"/>
                </a:solidFill>
                <a:cs typeface="+mn-ea"/>
                <a:sym typeface="+mn-lt"/>
              </a:rPr>
              <a:t>gjorde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jobben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går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（过去时）他昨天完成了这项工作。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</a:t>
            </a:r>
            <a:r>
              <a:rPr lang="en-US" altLang="zh-CN" sz="3200" b="1" i="1" dirty="0" err="1">
                <a:solidFill>
                  <a:schemeClr val="accent2"/>
                </a:solidFill>
                <a:cs typeface="+mn-ea"/>
                <a:sym typeface="+mn-lt"/>
              </a:rPr>
              <a:t>har</a:t>
            </a:r>
            <a:r>
              <a:rPr lang="en-US" altLang="zh-CN" sz="3200" b="1" i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3200" b="1" i="1" dirty="0" err="1">
                <a:solidFill>
                  <a:schemeClr val="accent2"/>
                </a:solidFill>
                <a:cs typeface="+mn-ea"/>
                <a:sym typeface="+mn-lt"/>
              </a:rPr>
              <a:t>gjort</a:t>
            </a:r>
            <a:r>
              <a:rPr lang="en-US" altLang="zh-CN" sz="3200" b="1" i="1" dirty="0">
                <a:solidFill>
                  <a:schemeClr val="accent2"/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ferdig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（完成时）我们已经把它做完了。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348B3AB-DAC5-32A0-2E57-98F955438099}"/>
              </a:ext>
            </a:extLst>
          </p:cNvPr>
          <p:cNvSpPr txBox="1">
            <a:spLocks/>
          </p:cNvSpPr>
          <p:nvPr/>
        </p:nvSpPr>
        <p:spPr>
          <a:xfrm>
            <a:off x="11637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/>
              <a:t> </a:t>
            </a:r>
            <a:r>
              <a:rPr lang="zh-CN" altLang="en-US" dirty="0"/>
              <a:t>动词</a:t>
            </a:r>
            <a:r>
              <a:rPr lang="zh-CN" altLang="zh-CN" dirty="0"/>
              <a:t>原型｜现在时｜过去时｜完成时｜释义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940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22971-3347-5A97-82C7-CB0ADC57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520D0-BB5B-9628-CE03-FD23CFC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5D8E02F-B835-991F-8AA7-02C04EABACF0}"/>
              </a:ext>
            </a:extLst>
          </p:cNvPr>
          <p:cNvSpPr txBox="1">
            <a:spLocks/>
          </p:cNvSpPr>
          <p:nvPr/>
        </p:nvSpPr>
        <p:spPr>
          <a:xfrm>
            <a:off x="1128952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zh-CN" altLang="en-US" dirty="0"/>
              <a:t>人称代词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D3F4CF9-FCCA-E2FE-47D5-DB29DBCFFE66}"/>
              </a:ext>
            </a:extLst>
          </p:cNvPr>
          <p:cNvGraphicFramePr>
            <a:graphicFrameLocks noGrp="1"/>
          </p:cNvGraphicFramePr>
          <p:nvPr/>
        </p:nvGraphicFramePr>
        <p:xfrm>
          <a:off x="613228" y="1178323"/>
          <a:ext cx="10481493" cy="3944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6372">
                  <a:extLst>
                    <a:ext uri="{9D8B030D-6E8A-4147-A177-3AD203B41FA5}">
                      <a16:colId xmlns:a16="http://schemas.microsoft.com/office/drawing/2014/main" val="1577467806"/>
                    </a:ext>
                  </a:extLst>
                </a:gridCol>
                <a:gridCol w="1866368">
                  <a:extLst>
                    <a:ext uri="{9D8B030D-6E8A-4147-A177-3AD203B41FA5}">
                      <a16:colId xmlns:a16="http://schemas.microsoft.com/office/drawing/2014/main" val="1563983134"/>
                    </a:ext>
                  </a:extLst>
                </a:gridCol>
                <a:gridCol w="2066777">
                  <a:extLst>
                    <a:ext uri="{9D8B030D-6E8A-4147-A177-3AD203B41FA5}">
                      <a16:colId xmlns:a16="http://schemas.microsoft.com/office/drawing/2014/main" val="2535996634"/>
                    </a:ext>
                  </a:extLst>
                </a:gridCol>
                <a:gridCol w="4011976">
                  <a:extLst>
                    <a:ext uri="{9D8B030D-6E8A-4147-A177-3AD203B41FA5}">
                      <a16:colId xmlns:a16="http://schemas.microsoft.com/office/drawing/2014/main" val="3212252268"/>
                    </a:ext>
                  </a:extLst>
                </a:gridCol>
              </a:tblGrid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中文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主格 (subjekt)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宾格 (objekt)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物主代词（后面加名词）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42785212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我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jeg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meg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min /mitt /mine 我的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256204123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你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du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deg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din /ditt /dine 你的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424830950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他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ham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hans 他的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37554856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她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hun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henne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hennes 她的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008945089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它（中性）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dets 它的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05952678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它（</a:t>
                      </a:r>
                      <a:r>
                        <a:rPr lang="zh-CN" altLang="zh-CN" sz="2000" dirty="0"/>
                        <a:t>通性</a:t>
                      </a:r>
                      <a:r>
                        <a:rPr lang="en-US" altLang="zh-CN" sz="2000" dirty="0"/>
                        <a:t>=</a:t>
                      </a:r>
                      <a:r>
                        <a:rPr lang="zh-CN" altLang="en-US" sz="2000" u="none" strike="noStrike" dirty="0">
                          <a:effectLst/>
                        </a:rPr>
                        <a:t>阴性</a:t>
                      </a:r>
                      <a:r>
                        <a:rPr lang="en-US" altLang="zh-CN" sz="2000" u="none" strike="noStrike" dirty="0">
                          <a:effectLst/>
                        </a:rPr>
                        <a:t>/</a:t>
                      </a:r>
                      <a:r>
                        <a:rPr lang="zh-CN" altLang="en-US" sz="2000" u="none" strike="noStrike" dirty="0">
                          <a:effectLst/>
                        </a:rPr>
                        <a:t>阳性</a:t>
                      </a:r>
                      <a:r>
                        <a:rPr lang="zh-CN" sz="2000" u="none" strike="noStrike" dirty="0">
                          <a:effectLst/>
                        </a:rPr>
                        <a:t>）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den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den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dens 它的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604079817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我们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vi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oss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vår/vårt /våre 我们的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514496155"/>
                  </a:ext>
                </a:extLst>
              </a:tr>
              <a:tr h="3295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你们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deres 你们的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93265472"/>
                  </a:ext>
                </a:extLst>
              </a:tr>
              <a:tr h="653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他们 / 她们 / 它们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>
                          <a:effectLst/>
                        </a:rPr>
                        <a:t>dem</a:t>
                      </a:r>
                      <a:endParaRPr lang="zh-CN" sz="2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sz="2000" u="none" strike="noStrike" dirty="0">
                          <a:effectLst/>
                        </a:rPr>
                        <a:t>deres 他们的</a:t>
                      </a:r>
                      <a:endParaRPr 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2786382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9653C09F-6A7A-55F5-35D5-AE7FB11FA97F}"/>
              </a:ext>
            </a:extLst>
          </p:cNvPr>
          <p:cNvSpPr txBox="1"/>
          <p:nvPr/>
        </p:nvSpPr>
        <p:spPr>
          <a:xfrm>
            <a:off x="3609340" y="5349880"/>
            <a:ext cx="40320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通性单数名词</a:t>
            </a:r>
            <a:r>
              <a:rPr lang="zh-CN" altLang="zh-CN" dirty="0">
                <a:effectLst/>
              </a:rPr>
              <a:t> → min / din / vår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中性单数名词</a:t>
            </a:r>
            <a:r>
              <a:rPr lang="zh-CN" altLang="zh-CN" dirty="0">
                <a:effectLst/>
              </a:rPr>
              <a:t> → mitt / ditt / vårt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>
                <a:effectLst/>
              </a:rPr>
              <a:t>复数名词</a:t>
            </a:r>
            <a:r>
              <a:rPr lang="zh-CN" altLang="zh-CN" dirty="0">
                <a:effectLst/>
              </a:rPr>
              <a:t> → mine / dine / våre</a:t>
            </a:r>
          </a:p>
        </p:txBody>
      </p:sp>
    </p:spTree>
    <p:extLst>
      <p:ext uri="{BB962C8B-B14F-4D97-AF65-F5344CB8AC3E}">
        <p14:creationId xmlns:p14="http://schemas.microsoft.com/office/powerpoint/2010/main" val="6016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341D-F7EF-4211-56F6-5B93691B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4D3EB-0E38-D6C7-7F6E-00979E59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82B8E0-3D4A-8EA6-B057-8B4F181A743F}"/>
              </a:ext>
            </a:extLst>
          </p:cNvPr>
          <p:cNvSpPr txBox="1"/>
          <p:nvPr/>
        </p:nvSpPr>
        <p:spPr>
          <a:xfrm>
            <a:off x="1759133" y="401497"/>
            <a:ext cx="8847908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/>
              <a:t>主语：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Jeg</a:t>
            </a:r>
            <a:r>
              <a:rPr lang="nb-NO" altLang="zh-CN" sz="2800" dirty="0"/>
              <a:t> heter Anna. </a:t>
            </a:r>
            <a:r>
              <a:rPr lang="zh-CN" altLang="en-US" sz="2800" dirty="0"/>
              <a:t>我叫安娜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Du</a:t>
            </a:r>
            <a:r>
              <a:rPr lang="nb-NO" altLang="zh-CN" sz="2800" dirty="0"/>
              <a:t> er snill. </a:t>
            </a:r>
            <a:r>
              <a:rPr lang="zh-CN" altLang="en-US" sz="2800" dirty="0"/>
              <a:t>你人很好。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Han</a:t>
            </a:r>
            <a:r>
              <a:rPr lang="nb-NO" altLang="zh-CN" sz="2800" dirty="0"/>
              <a:t> bor i Oslo. </a:t>
            </a:r>
            <a:r>
              <a:rPr lang="zh-CN" altLang="en-US" sz="2800" dirty="0"/>
              <a:t>他住在奥斯陆。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Hun</a:t>
            </a:r>
            <a:r>
              <a:rPr lang="nb-NO" altLang="zh-CN" sz="2800" dirty="0"/>
              <a:t> liker kaffe. </a:t>
            </a:r>
            <a:r>
              <a:rPr lang="zh-CN" altLang="en-US" sz="2800" dirty="0"/>
              <a:t>她喜欢咖啡。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Den</a:t>
            </a:r>
            <a:r>
              <a:rPr lang="nb-NO" altLang="zh-CN" sz="2800" dirty="0"/>
              <a:t> er fin. </a:t>
            </a:r>
            <a:r>
              <a:rPr lang="zh-CN" altLang="en-US" sz="2800" dirty="0"/>
              <a:t>它很好看。 （阳</a:t>
            </a:r>
            <a:r>
              <a:rPr lang="en-US" altLang="zh-CN" sz="2800" dirty="0"/>
              <a:t>/</a:t>
            </a:r>
            <a:r>
              <a:rPr lang="zh-CN" altLang="en-US" sz="2800" dirty="0"/>
              <a:t>阴都可以用</a:t>
            </a:r>
            <a:r>
              <a:rPr lang="en-US" altLang="zh-CN" sz="2800" dirty="0"/>
              <a:t>Den</a:t>
            </a:r>
            <a:r>
              <a:rPr lang="zh-CN" altLang="en-US" sz="2800" dirty="0"/>
              <a:t>）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Det</a:t>
            </a:r>
            <a:r>
              <a:rPr lang="nb-NO" altLang="zh-CN" sz="2800" dirty="0"/>
              <a:t> er kaldt i dag. </a:t>
            </a:r>
            <a:r>
              <a:rPr lang="zh-CN" altLang="en-US" sz="2800" dirty="0"/>
              <a:t>今天很冷。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Vi</a:t>
            </a:r>
            <a:r>
              <a:rPr lang="nb-NO" altLang="zh-CN" sz="2800" dirty="0"/>
              <a:t> lærer norsk. </a:t>
            </a:r>
            <a:r>
              <a:rPr lang="zh-CN" altLang="en-US" sz="2800" dirty="0"/>
              <a:t>我们学挪威语。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Dere</a:t>
            </a:r>
            <a:r>
              <a:rPr lang="nb-NO" altLang="zh-CN" sz="2800" dirty="0"/>
              <a:t> kommer fra Kina. </a:t>
            </a:r>
            <a:r>
              <a:rPr lang="zh-CN" altLang="en-US" sz="2800" dirty="0"/>
              <a:t>你们来自中国。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De</a:t>
            </a:r>
            <a:r>
              <a:rPr lang="nb-NO" altLang="zh-CN" sz="2800" dirty="0"/>
              <a:t> spiller fotball. </a:t>
            </a:r>
            <a:r>
              <a:rPr lang="en-US" altLang="zh-CN" sz="2800" dirty="0"/>
              <a:t>TA</a:t>
            </a:r>
            <a:r>
              <a:rPr lang="zh-CN" altLang="en-US" sz="2800" dirty="0"/>
              <a:t>们踢足球。</a:t>
            </a:r>
          </a:p>
        </p:txBody>
      </p:sp>
    </p:spTree>
    <p:extLst>
      <p:ext uri="{BB962C8B-B14F-4D97-AF65-F5344CB8AC3E}">
        <p14:creationId xmlns:p14="http://schemas.microsoft.com/office/powerpoint/2010/main" val="35097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1B119-40CA-55DA-A3E1-EE2E26DA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C972D-8F2C-196D-8E10-861AB67E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14F890-C540-C133-6DD9-9B7D9A7D5AD9}"/>
              </a:ext>
            </a:extLst>
          </p:cNvPr>
          <p:cNvSpPr txBox="1"/>
          <p:nvPr/>
        </p:nvSpPr>
        <p:spPr>
          <a:xfrm>
            <a:off x="2490652" y="401497"/>
            <a:ext cx="830797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/>
              <a:t>宾语：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Kan du hjelpe </a:t>
            </a:r>
            <a:r>
              <a:rPr lang="nb-NO" altLang="zh-CN" sz="2800" dirty="0">
                <a:solidFill>
                  <a:schemeClr val="accent2"/>
                </a:solidFill>
              </a:rPr>
              <a:t>meg</a:t>
            </a:r>
            <a:r>
              <a:rPr lang="nb-NO" altLang="zh-CN" sz="2800" dirty="0"/>
              <a:t>? </a:t>
            </a:r>
            <a:r>
              <a:rPr lang="zh-CN" altLang="en-US" sz="2800" dirty="0"/>
              <a:t>你能帮我吗？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ser </a:t>
            </a:r>
            <a:r>
              <a:rPr lang="nb-NO" altLang="zh-CN" sz="2800" dirty="0">
                <a:solidFill>
                  <a:schemeClr val="accent2"/>
                </a:solidFill>
              </a:rPr>
              <a:t>deg</a:t>
            </a:r>
            <a:r>
              <a:rPr lang="nb-NO" altLang="zh-CN" sz="2800" dirty="0"/>
              <a:t>. </a:t>
            </a:r>
            <a:r>
              <a:rPr lang="zh-CN" altLang="en-US" sz="2800" dirty="0"/>
              <a:t>我看见你。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kjenner </a:t>
            </a:r>
            <a:r>
              <a:rPr lang="nb-NO" altLang="zh-CN" sz="2800" dirty="0">
                <a:solidFill>
                  <a:schemeClr val="accent2"/>
                </a:solidFill>
              </a:rPr>
              <a:t>ham/</a:t>
            </a:r>
            <a:r>
              <a:rPr lang="en-US" altLang="zh-CN" sz="2800" dirty="0" err="1">
                <a:solidFill>
                  <a:schemeClr val="accent2"/>
                </a:solidFill>
              </a:rPr>
              <a:t>han</a:t>
            </a:r>
            <a:r>
              <a:rPr lang="nb-NO" altLang="zh-CN" sz="2800" dirty="0"/>
              <a:t>. </a:t>
            </a:r>
            <a:r>
              <a:rPr lang="zh-CN" altLang="en-US" sz="2800" dirty="0"/>
              <a:t>我认识他。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elsker </a:t>
            </a:r>
            <a:r>
              <a:rPr lang="nb-NO" altLang="zh-CN" sz="2800" dirty="0">
                <a:solidFill>
                  <a:schemeClr val="accent2"/>
                </a:solidFill>
              </a:rPr>
              <a:t>henne</a:t>
            </a:r>
            <a:r>
              <a:rPr lang="nb-NO" altLang="zh-CN" sz="2800" dirty="0"/>
              <a:t>. </a:t>
            </a:r>
            <a:r>
              <a:rPr lang="zh-CN" altLang="en-US" sz="2800" dirty="0"/>
              <a:t>我爱她。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har </a:t>
            </a:r>
            <a:r>
              <a:rPr lang="nb-NO" altLang="zh-CN" sz="2800" dirty="0">
                <a:solidFill>
                  <a:schemeClr val="accent2"/>
                </a:solidFill>
              </a:rPr>
              <a:t>den</a:t>
            </a:r>
            <a:r>
              <a:rPr lang="nb-NO" altLang="zh-CN" sz="2800" dirty="0"/>
              <a:t>. </a:t>
            </a:r>
            <a:r>
              <a:rPr lang="zh-CN" altLang="en-US" sz="2800" dirty="0"/>
              <a:t>我有它。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ser </a:t>
            </a:r>
            <a:r>
              <a:rPr lang="nb-NO" altLang="zh-CN" sz="2800" dirty="0">
                <a:solidFill>
                  <a:schemeClr val="accent2"/>
                </a:solidFill>
              </a:rPr>
              <a:t>det</a:t>
            </a:r>
            <a:r>
              <a:rPr lang="nb-NO" altLang="zh-CN" sz="2800" dirty="0"/>
              <a:t>. </a:t>
            </a:r>
            <a:r>
              <a:rPr lang="zh-CN" altLang="en-US" sz="2800" dirty="0"/>
              <a:t>我看见它。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Hun hjelper </a:t>
            </a:r>
            <a:r>
              <a:rPr lang="nb-NO" altLang="zh-CN" sz="2800" dirty="0">
                <a:solidFill>
                  <a:schemeClr val="accent2"/>
                </a:solidFill>
              </a:rPr>
              <a:t>oss</a:t>
            </a:r>
            <a:r>
              <a:rPr lang="nb-NO" altLang="zh-CN" sz="2800" dirty="0"/>
              <a:t>. </a:t>
            </a:r>
            <a:r>
              <a:rPr lang="zh-CN" altLang="en-US" sz="2800" dirty="0"/>
              <a:t>她帮助我们。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Jeg ringer </a:t>
            </a:r>
            <a:r>
              <a:rPr lang="nb-NO" altLang="zh-CN" sz="2800" dirty="0">
                <a:solidFill>
                  <a:schemeClr val="accent2"/>
                </a:solidFill>
              </a:rPr>
              <a:t>dere</a:t>
            </a:r>
            <a:r>
              <a:rPr lang="nb-NO" altLang="zh-CN" sz="2800" dirty="0"/>
              <a:t> i morgen. </a:t>
            </a:r>
            <a:r>
              <a:rPr lang="zh-CN" altLang="en-US" sz="2800" dirty="0"/>
              <a:t>我明天给你们打电话。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Vi besøker </a:t>
            </a:r>
            <a:r>
              <a:rPr lang="nb-NO" altLang="zh-CN" sz="2800" dirty="0">
                <a:solidFill>
                  <a:schemeClr val="accent2"/>
                </a:solidFill>
              </a:rPr>
              <a:t>dem</a:t>
            </a:r>
            <a:r>
              <a:rPr lang="nb-NO" altLang="zh-CN" sz="2800" dirty="0"/>
              <a:t>. </a:t>
            </a:r>
            <a:r>
              <a:rPr lang="zh-CN" altLang="en-US" sz="2800" dirty="0"/>
              <a:t>我们拜访他们。</a:t>
            </a:r>
          </a:p>
        </p:txBody>
      </p:sp>
    </p:spTree>
    <p:extLst>
      <p:ext uri="{BB962C8B-B14F-4D97-AF65-F5344CB8AC3E}">
        <p14:creationId xmlns:p14="http://schemas.microsoft.com/office/powerpoint/2010/main" val="20608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48D00-6007-098E-3D21-8BF404CE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80A6D-1C41-B102-B5AD-3F50F90C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353BAB-D005-4E73-808B-6C863A23B7D3}"/>
              </a:ext>
            </a:extLst>
          </p:cNvPr>
          <p:cNvSpPr txBox="1"/>
          <p:nvPr/>
        </p:nvSpPr>
        <p:spPr>
          <a:xfrm>
            <a:off x="1489167" y="1019806"/>
            <a:ext cx="88479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/>
              <a:t>所有格：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Dette er </a:t>
            </a:r>
            <a:r>
              <a:rPr lang="nb-NO" altLang="zh-CN" sz="2800" dirty="0">
                <a:solidFill>
                  <a:schemeClr val="accent2"/>
                </a:solidFill>
              </a:rPr>
              <a:t>bilen min</a:t>
            </a:r>
            <a:r>
              <a:rPr lang="nb-NO" altLang="zh-CN" sz="2800" dirty="0"/>
              <a:t>. </a:t>
            </a:r>
            <a:r>
              <a:rPr lang="zh-CN" altLang="en-US" sz="2800" dirty="0"/>
              <a:t>这是我的车。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Hvor er </a:t>
            </a:r>
            <a:r>
              <a:rPr lang="nb-NO" altLang="zh-CN" sz="2800" dirty="0">
                <a:solidFill>
                  <a:schemeClr val="accent2"/>
                </a:solidFill>
              </a:rPr>
              <a:t>boka mi</a:t>
            </a:r>
            <a:r>
              <a:rPr lang="nb-NO" altLang="zh-CN" sz="2800" dirty="0"/>
              <a:t>? </a:t>
            </a:r>
            <a:r>
              <a:rPr lang="zh-CN" altLang="en-US" sz="2800" dirty="0"/>
              <a:t>我的书在哪？ </a:t>
            </a:r>
            <a:r>
              <a:rPr lang="en-US" altLang="zh-CN" sz="2800" dirty="0"/>
              <a:t>(</a:t>
            </a:r>
            <a:r>
              <a:rPr lang="nb-NO" altLang="zh-CN" sz="2800" dirty="0"/>
              <a:t>ei bok)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Huset mitt</a:t>
            </a:r>
            <a:r>
              <a:rPr lang="nb-NO" altLang="zh-CN" sz="2800" dirty="0"/>
              <a:t> er stort. </a:t>
            </a:r>
            <a:r>
              <a:rPr lang="zh-CN" altLang="en-US" sz="2800" dirty="0"/>
              <a:t>我的房子很大。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Vennene mine</a:t>
            </a:r>
            <a:r>
              <a:rPr lang="nb-NO" altLang="zh-CN" sz="2800" dirty="0"/>
              <a:t> er hyggelige. </a:t>
            </a:r>
            <a:r>
              <a:rPr lang="zh-CN" altLang="en-US" sz="2800" dirty="0"/>
              <a:t>我的朋友们很友好。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Er dette </a:t>
            </a:r>
            <a:r>
              <a:rPr lang="nb-NO" altLang="zh-CN" sz="2800" dirty="0">
                <a:solidFill>
                  <a:schemeClr val="accent2"/>
                </a:solidFill>
              </a:rPr>
              <a:t>boka di</a:t>
            </a:r>
            <a:r>
              <a:rPr lang="nb-NO" altLang="zh-CN" sz="2800" dirty="0"/>
              <a:t>? </a:t>
            </a:r>
            <a:r>
              <a:rPr lang="zh-CN" altLang="en-US" sz="2800" dirty="0"/>
              <a:t>这是你的书吗？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/>
              <a:t>Hva heter </a:t>
            </a:r>
            <a:r>
              <a:rPr lang="nb-NO" altLang="zh-CN" sz="2800" dirty="0">
                <a:solidFill>
                  <a:schemeClr val="accent2"/>
                </a:solidFill>
              </a:rPr>
              <a:t>hunden din</a:t>
            </a:r>
            <a:r>
              <a:rPr lang="nb-NO" altLang="zh-CN" sz="2800" dirty="0"/>
              <a:t>? </a:t>
            </a:r>
            <a:r>
              <a:rPr lang="zh-CN" altLang="en-US" sz="2800" dirty="0"/>
              <a:t>你的狗叫什么？</a:t>
            </a:r>
          </a:p>
        </p:txBody>
      </p:sp>
    </p:spTree>
    <p:extLst>
      <p:ext uri="{BB962C8B-B14F-4D97-AF65-F5344CB8AC3E}">
        <p14:creationId xmlns:p14="http://schemas.microsoft.com/office/powerpoint/2010/main" val="381456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F1B6-15DA-4051-16A7-7C67FBA40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775AA-8053-4BA0-9E74-CEE8359A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4B2CF5-D18C-50F2-CBDE-4979D49C5A78}"/>
              </a:ext>
            </a:extLst>
          </p:cNvPr>
          <p:cNvSpPr txBox="1"/>
          <p:nvPr/>
        </p:nvSpPr>
        <p:spPr>
          <a:xfrm>
            <a:off x="1558836" y="950772"/>
            <a:ext cx="884790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800" dirty="0"/>
              <a:t>所有格：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Bilen hans </a:t>
            </a:r>
            <a:r>
              <a:rPr lang="nb-NO" altLang="zh-CN" sz="2800" dirty="0"/>
              <a:t>er ny. </a:t>
            </a:r>
            <a:r>
              <a:rPr lang="zh-CN" altLang="en-US" sz="2800" dirty="0"/>
              <a:t>他的车是新的。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Moren</a:t>
            </a:r>
            <a:r>
              <a:rPr lang="nb-NO" altLang="zh-CN" sz="2800" dirty="0"/>
              <a:t> </a:t>
            </a:r>
            <a:r>
              <a:rPr lang="nb-NO" altLang="zh-CN" sz="2800" dirty="0">
                <a:solidFill>
                  <a:schemeClr val="accent2"/>
                </a:solidFill>
              </a:rPr>
              <a:t>hennes</a:t>
            </a:r>
            <a:r>
              <a:rPr lang="nb-NO" altLang="zh-CN" sz="2800" dirty="0"/>
              <a:t> er lærer. </a:t>
            </a:r>
            <a:r>
              <a:rPr lang="zh-CN" altLang="en-US" sz="2800" dirty="0"/>
              <a:t>她的妈妈是老师。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Katten vår</a:t>
            </a:r>
            <a:r>
              <a:rPr lang="nb-NO" altLang="zh-CN" sz="2800" dirty="0"/>
              <a:t> er svart. </a:t>
            </a:r>
            <a:r>
              <a:rPr lang="zh-CN" altLang="en-US" sz="2800" dirty="0"/>
              <a:t>我们的猫是黑色的。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Huset</a:t>
            </a:r>
            <a:r>
              <a:rPr lang="nb-NO" altLang="zh-CN" sz="2800" dirty="0"/>
              <a:t> </a:t>
            </a:r>
            <a:r>
              <a:rPr lang="nb-NO" altLang="zh-CN" sz="2800" dirty="0">
                <a:solidFill>
                  <a:schemeClr val="accent2"/>
                </a:solidFill>
              </a:rPr>
              <a:t>vårt</a:t>
            </a:r>
            <a:r>
              <a:rPr lang="nb-NO" altLang="zh-CN" sz="2800" dirty="0"/>
              <a:t> ligger her. </a:t>
            </a:r>
            <a:r>
              <a:rPr lang="zh-CN" altLang="en-US" sz="2800" dirty="0"/>
              <a:t>我们的房子在这里。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Bøkene</a:t>
            </a:r>
            <a:r>
              <a:rPr lang="nb-NO" altLang="zh-CN" sz="2800" dirty="0"/>
              <a:t> </a:t>
            </a:r>
            <a:r>
              <a:rPr lang="nb-NO" altLang="zh-CN" sz="2800" dirty="0">
                <a:solidFill>
                  <a:schemeClr val="accent2"/>
                </a:solidFill>
              </a:rPr>
              <a:t>våre</a:t>
            </a:r>
            <a:r>
              <a:rPr lang="nb-NO" altLang="zh-CN" sz="2800" dirty="0"/>
              <a:t> er nye. </a:t>
            </a:r>
            <a:r>
              <a:rPr lang="zh-CN" altLang="en-US" sz="2800" dirty="0"/>
              <a:t>我们的书是新的。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Klærne</a:t>
            </a:r>
            <a:r>
              <a:rPr lang="nb-NO" altLang="zh-CN" sz="2800" dirty="0"/>
              <a:t> </a:t>
            </a:r>
            <a:r>
              <a:rPr lang="nb-NO" altLang="zh-CN" sz="2800" dirty="0">
                <a:solidFill>
                  <a:schemeClr val="accent2"/>
                </a:solidFill>
              </a:rPr>
              <a:t>deres</a:t>
            </a:r>
            <a:r>
              <a:rPr lang="nb-NO" altLang="zh-CN" sz="2800" dirty="0"/>
              <a:t> er fine. </a:t>
            </a:r>
            <a:r>
              <a:rPr lang="zh-CN" altLang="en-US" sz="2800" dirty="0"/>
              <a:t>你们的</a:t>
            </a:r>
            <a:r>
              <a:rPr lang="en-US" altLang="zh-CN" sz="2800" dirty="0"/>
              <a:t>/</a:t>
            </a:r>
            <a:r>
              <a:rPr lang="zh-CN" altLang="en-US" sz="2800" dirty="0"/>
              <a:t>他们的衣服很好看。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nb-NO" altLang="zh-CN" sz="2800" dirty="0">
                <a:solidFill>
                  <a:schemeClr val="accent2"/>
                </a:solidFill>
              </a:rPr>
              <a:t>Skolen deres</a:t>
            </a:r>
            <a:r>
              <a:rPr lang="nb-NO" altLang="zh-CN" sz="2800" dirty="0"/>
              <a:t> er stor. </a:t>
            </a:r>
            <a:r>
              <a:rPr lang="zh-CN" altLang="en-US" sz="2800" dirty="0"/>
              <a:t>他们的学校很大。</a:t>
            </a:r>
          </a:p>
        </p:txBody>
      </p:sp>
    </p:spTree>
    <p:extLst>
      <p:ext uri="{BB962C8B-B14F-4D97-AF65-F5344CB8AC3E}">
        <p14:creationId xmlns:p14="http://schemas.microsoft.com/office/powerpoint/2010/main" val="63068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4A5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4218c44-5dd4-423a-a20d-1aaad86ca3f6">
      <a:majorFont>
        <a:latin typeface="思源黑体 CN" panose="020F0302020204030204"/>
        <a:ea typeface="Verdana"/>
        <a:cs typeface=""/>
      </a:majorFont>
      <a:minorFont>
        <a:latin typeface="思源黑体 CN" panose="020F0502020204030204"/>
        <a:ea typeface="Verd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2405</Words>
  <Application>Microsoft Office PowerPoint</Application>
  <PresentationFormat>宽屏</PresentationFormat>
  <Paragraphs>311</Paragraphs>
  <Slides>38</Slides>
  <Notes>35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Noto Sans SC</vt:lpstr>
      <vt:lpstr>思源宋体 CN Heavy</vt:lpstr>
      <vt:lpstr>思源黑体 CN</vt:lpstr>
      <vt:lpstr>等线</vt:lpstr>
      <vt:lpstr>Arial</vt:lpstr>
      <vt:lpstr>Open Sans</vt:lpstr>
      <vt:lpstr>Verdana</vt:lpstr>
      <vt:lpstr>Office 主题​​</vt:lpstr>
      <vt:lpstr>PowerPoint 演示文稿</vt:lpstr>
      <vt:lpstr>PowerPoint 演示文稿</vt:lpstr>
      <vt:lpstr>PowerPoint 演示文稿</vt:lpstr>
      <vt:lpstr> </vt:lpstr>
      <vt:lpstr> </vt:lpstr>
      <vt:lpstr> </vt:lpstr>
      <vt:lpstr> </vt:lpstr>
      <vt:lpstr> </vt:lpstr>
      <vt:lpstr> 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Nationality 国籍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115</cp:revision>
</cp:coreProperties>
</file>